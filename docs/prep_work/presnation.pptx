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hyperlink" Target="https://www.elocal.com/_next/static/css/337691d49ab31e0e.css#:~:text=%3Aroot%7B,v2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hyperlink" Target="https://www.elocal.com/_next/static/css/337691d49ab31e0e.css#:~:text=%3Aroot%7B,v2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hyperlink" Target="https://www.elocal.com/_next/static/css/337691d49ab31e0e.css#:~:text=%3Aroot%7B,v2" TargetMode="External"/><Relationship Id="rId4" Type="http://schemas.openxmlformats.org/officeDocument/2006/relationships/hyperlink" Target="https://www.beautiful.ai/blog/presentation-mistakes-to-leave-behind-in-2025#:~:text=In%202026%2C%20strong%20presentations%20prioritize,competing%20with%20their%20own%20content" TargetMode="External"/><Relationship Id="rId5" Type="http://schemas.openxmlformats.org/officeDocument/2006/relationships/hyperlink" Target="https://www.beautiful.ai/blog/presentation-mistakes-to-leave-behind-in-2025#:~:text=Nothing%20erodes%20credibility%20faster%20than,the%20content%20itself%20is%20strong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hyperlink" Target="https://www.duarte.com/blog/display-data-in-presentations/#:~:text=points%20are,to%20key%20pieces%20of%20data" TargetMode="External"/><Relationship Id="rId5" Type="http://schemas.openxmlformats.org/officeDocument/2006/relationships/hyperlink" Target="https://www.duarte.com/blog/display-data-in-presentations/#:~:text=Sometimes%20less%20is%20more%2C%20especially,Consider%20this%20chart" TargetMode="External"/><Relationship Id="rId6" Type="http://schemas.openxmlformats.org/officeDocument/2006/relationships/hyperlink" Target="https://www.beautiful.ai/blog/presentation-mistakes-to-leave-behind-in-2025#:~:text=Nothing%20erodes%20credibility%20faster%20than,the%20content%20itself%20is%20strong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hyperlink" Target="https://www.elocal.com/_next/static/css/337691d49ab31e0e.css#:~:text=%3Aroot%7B,v2" TargetMode="Externa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hyperlink" Target="https://www.elocal.com/_next/static/css/337691d49ab31e0e.css#:~:text=%3Aroot%7B,v2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hyperlink" Target="https://www.elocal.com/_next/static/css/337691d49ab31e0e.css#:~:text=%3Aroot%7B,v2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hyperlink" Target="https://www.elocal.com/_next/static/css/337691d49ab31e0e.css#:~:text=%3Aroot%7B,v2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hyperlink" Target="https://www.beautiful.ai/blog/presentation-mistakes-to-leave-behind-in-2025#:~:text=In%202026%2C%20strong%20presentations%20prioritize,competing%20with%20their%20own%20content" TargetMode="External"/><Relationship Id="rId8" Type="http://schemas.openxmlformats.org/officeDocument/2006/relationships/hyperlink" Target="https://www.beautiful.ai/blog/presentation-mistakes-to-leave-behind-in-2025#:~:text=Presenting%20data%20without%20a%20clear,narrative" TargetMode="External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hyperlink" Target="https://www.beautiful.ai/blog/presentation-mistakes-to-leave-behind-in-2025#:~:text=Nothing%20erodes%20credibility%20faster%20than,the%20content%20itself%20is%20strong" TargetMode="External"/><Relationship Id="rId6" Type="http://schemas.openxmlformats.org/officeDocument/2006/relationships/hyperlink" Target="https://www.beautiful.ai/blog/presentation-mistakes-to-leave-behind-in-2025#:~:text=Presenting%20data%20without%20a%20clear,narrative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2537">
              <a:alpha val="50000"/>
            </a:srgbClr>
          </a:solidFill>
          <a:ln w="12700">
            <a:solidFill>
              <a:srgbClr val="022537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40080" y="1828800"/>
            <a:ext cx="7772400" cy="2286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3F3F3"/>
                </a:solidFill>
              </a:rPr>
              <a:t>eLocal Analytics</a:t>
            </a:r>
            <a:endParaRPr lang="en-US" sz="4200" dirty="0"/>
          </a:p>
          <a:p>
            <a:pPr algn="l" indent="0" marL="0">
              <a:buNone/>
            </a:pPr>
            <a:endParaRPr lang="en-US" sz="4200" dirty="0"/>
          </a:p>
          <a:p>
            <a:pPr algn="l" indent="0" marL="0">
              <a:buNone/>
            </a:pPr>
            <a:r>
              <a:rPr lang="en-US" sz="2400" i="1" dirty="0">
                <a:solidFill>
                  <a:srgbClr val="FFA000"/>
                </a:solidFill>
              </a:rPr>
              <a:t>Data‑Driven Insights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640080" y="32918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3F3F3"/>
                </a:solidFill>
              </a:rPr>
              <a:t>Uncover opportunities &amp; drive growth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u="sng" dirty="0">
                <a:solidFill>
                  <a:srgbClr val="0292D2"/>
                </a:solidFill>
                <a:hlinkClick r:id="rId2"/>
              </a:rPr>
              <a:t>[1]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2537"/>
                </a:solidFill>
              </a:rPr>
              <a:t>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2743200"/>
          </a:xfrm>
          <a:prstGeom prst="roundRect">
            <a:avLst>
              <a:gd name="adj" fmla="val 3333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  <a:effectLst>
            <a:outerShdw sx="100000" sy="100000" kx="0" ky="0" algn="bl" rotWithShape="0" blurRad="50800" dist="38100" dir="2700000">
              <a:srgbClr val="999999">
                <a:alpha val="20000"/>
              </a:srgbClr>
            </a:outerShdw>
          </a:effectLst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37160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F39"/>
                </a:solidFill>
              </a:rPr>
              <a:t>Introduction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37160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46120" y="137160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F39"/>
                </a:solidFill>
              </a:rPr>
              <a:t>KPIs</a:t>
            </a:r>
            <a:endParaRPr lang="en-US" sz="1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371600"/>
            <a:ext cx="365760" cy="365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303520" y="137160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F39"/>
                </a:solidFill>
              </a:rPr>
              <a:t>EDA Dashboard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371600"/>
            <a:ext cx="365760" cy="3657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360920" y="137160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F39"/>
                </a:solidFill>
              </a:rPr>
              <a:t>Insights &amp; Next Steps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u="sng" dirty="0">
                <a:solidFill>
                  <a:srgbClr val="0292D2"/>
                </a:solidFill>
                <a:hlinkClick r:id="rId5"/>
              </a:rPr>
              <a:t>[1]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2537"/>
                </a:solidFill>
              </a:rPr>
              <a:t>Objective &amp; Challenge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86200" cy="2011680"/>
          </a:xfrm>
          <a:prstGeom prst="roundRect">
            <a:avLst>
              <a:gd name="adj" fmla="val 3636"/>
            </a:avLst>
          </a:prstGeom>
          <a:solidFill>
            <a:srgbClr val="0292D2">
              <a:alpha val="70000"/>
            </a:srgbClr>
          </a:solidFill>
          <a:ln w="12700">
            <a:solidFill>
              <a:srgbClr val="0292D2"/>
            </a:solidFill>
            <a:prstDash val="solid"/>
          </a:ln>
          <a:effectLst>
            <a:outerShdw sx="100000" sy="100000" kx="0" ky="0" algn="bl" rotWithShape="0" blurRad="25400" dist="25400" dir="2700000">
              <a:srgbClr val="999999">
                <a:alpha val="20000"/>
              </a:srgbClr>
            </a:outerShdw>
          </a:effectLst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48132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F39"/>
                </a:solidFill>
              </a:rPr>
              <a:t>Business Objective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196596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F39"/>
                </a:solidFill>
              </a:rPr>
              <a:t>Acquire high-quality leads and maximise ROI for service providers.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800600" y="1188720"/>
            <a:ext cx="3886200" cy="2011680"/>
          </a:xfrm>
          <a:prstGeom prst="roundRect">
            <a:avLst>
              <a:gd name="adj" fmla="val 3636"/>
            </a:avLst>
          </a:prstGeom>
          <a:solidFill>
            <a:srgbClr val="FFA000">
              <a:alpha val="70000"/>
            </a:srgbClr>
          </a:solidFill>
          <a:ln w="12700">
            <a:solidFill>
              <a:srgbClr val="FFA000"/>
            </a:solidFill>
            <a:prstDash val="solid"/>
          </a:ln>
          <a:effectLst>
            <a:outerShdw sx="100000" sy="100000" kx="0" ky="0" algn="bl" rotWithShape="0" blurRad="25400" dist="25400" dir="2700000">
              <a:srgbClr val="999999">
                <a:alpha val="20000"/>
              </a:srgbClr>
            </a:outerShdw>
          </a:effectLst>
        </p:spPr>
        <p:txBody>
          <a:bodyPr/>
          <a:p/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5087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40680" y="148132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F39"/>
                </a:solidFill>
              </a:rPr>
              <a:t>Analytical Challenge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983480" y="196596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F39"/>
                </a:solidFill>
              </a:rPr>
              <a:t>Understand key drivers of performance and uncover actionable insights from call and lead data.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u="sng" dirty="0">
                <a:solidFill>
                  <a:srgbClr val="0292D2"/>
                </a:solidFill>
                <a:hlinkClick r:id="rId3"/>
              </a:rPr>
              <a:t>[1]</a:t>
            </a:r>
            <a:pPr indent="0" marL="0">
              <a:buNone/>
            </a:pPr>
            <a:r>
              <a:rPr lang="en-US" sz="700" u="sng" dirty="0">
                <a:solidFill>
                  <a:srgbClr val="0292D2"/>
                </a:solidFill>
                <a:hlinkClick r:id="rId4"/>
              </a:rPr>
              <a:t>[4]</a:t>
            </a:r>
            <a:pPr indent="0" marL="0">
              <a:buNone/>
            </a:pPr>
            <a:r>
              <a:rPr lang="en-US" sz="700" u="sng" dirty="0">
                <a:solidFill>
                  <a:srgbClr val="0292D2"/>
                </a:solidFill>
                <a:hlinkClick r:id="rId5"/>
              </a:rPr>
              <a:t>[5]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2537"/>
                </a:solidFill>
              </a:rPr>
              <a:t>Data &amp; 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743200" cy="2011680"/>
          </a:xfrm>
          <a:prstGeom prst="roundRect">
            <a:avLst>
              <a:gd name="adj" fmla="val 2273"/>
            </a:avLst>
          </a:prstGeom>
          <a:solidFill>
            <a:srgbClr val="02405F">
              <a:alpha val="70000"/>
            </a:srgbClr>
          </a:solidFill>
          <a:ln w="12700">
            <a:solidFill>
              <a:srgbClr val="02405F"/>
            </a:solidFill>
            <a:prstDash val="solid"/>
          </a:ln>
          <a:effectLst>
            <a:outerShdw sx="100000" sy="100000" kx="0" ky="0" algn="bl" rotWithShape="0" blurRad="25400" dist="25400" dir="2700000">
              <a:srgbClr val="999999">
                <a:alpha val="20000"/>
              </a:srgbClr>
            </a:outerShdw>
          </a:effectLst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4356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F39"/>
                </a:solidFill>
              </a:rPr>
              <a:t>Data Collection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18745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F39"/>
                </a:solidFill>
              </a:rPr>
              <a:t>Calls, forms and customer profiles are aggregated from eLocal’s lead generation system.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429000" y="1188720"/>
            <a:ext cx="2743200" cy="2011680"/>
          </a:xfrm>
          <a:prstGeom prst="roundRect">
            <a:avLst>
              <a:gd name="adj" fmla="val 2273"/>
            </a:avLst>
          </a:prstGeom>
          <a:solidFill>
            <a:srgbClr val="0292D2">
              <a:alpha val="70000"/>
            </a:srgbClr>
          </a:solidFill>
          <a:ln w="12700">
            <a:solidFill>
              <a:srgbClr val="0292D2"/>
            </a:solidFill>
            <a:prstDash val="solid"/>
          </a:ln>
          <a:effectLst>
            <a:outerShdw sx="100000" sy="100000" kx="0" ky="0" algn="bl" rotWithShape="0" blurRad="25400" dist="25400" dir="2700000">
              <a:srgbClr val="999999">
                <a:alpha val="20000"/>
              </a:srgbClr>
            </a:outerShdw>
          </a:effectLst>
        </p:spPr>
        <p:txBody>
          <a:bodyPr/>
          <a:p/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46304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77640" y="14356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F39"/>
                </a:solidFill>
              </a:rPr>
              <a:t>Preprocessing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611880" y="18745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F39"/>
                </a:solidFill>
              </a:rPr>
              <a:t>Clean, normalise and enrich data; handle missing values; engineer features such as call duration and lead source.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400800" y="1188720"/>
            <a:ext cx="2743200" cy="2011680"/>
          </a:xfrm>
          <a:prstGeom prst="roundRect">
            <a:avLst>
              <a:gd name="adj" fmla="val 2273"/>
            </a:avLst>
          </a:prstGeom>
          <a:solidFill>
            <a:srgbClr val="FFA000">
              <a:alpha val="70000"/>
            </a:srgbClr>
          </a:solidFill>
          <a:ln w="12700">
            <a:solidFill>
              <a:srgbClr val="FFA000"/>
            </a:solidFill>
            <a:prstDash val="solid"/>
          </a:ln>
          <a:effectLst>
            <a:outerShdw sx="100000" sy="100000" kx="0" ky="0" algn="bl" rotWithShape="0" blurRad="25400" dist="25400" dir="2700000">
              <a:srgbClr val="999999">
                <a:alpha val="20000"/>
              </a:srgbClr>
            </a:outerShdw>
          </a:effectLst>
        </p:spPr>
        <p:txBody>
          <a:bodyPr/>
          <a:p/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46304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49440" y="14356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F39"/>
                </a:solidFill>
              </a:rPr>
              <a:t>Modelling Approach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583680" y="18745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F39"/>
                </a:solidFill>
              </a:rPr>
              <a:t>Use statistical summaries and machine learning models (e.g., regression, classification) to uncover patterns and predictors of success.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u="sng" dirty="0">
                <a:solidFill>
                  <a:srgbClr val="0292D2"/>
                </a:solidFill>
                <a:hlinkClick r:id="rId4"/>
              </a:rPr>
              <a:t>[2]</a:t>
            </a:r>
            <a:pPr indent="0" marL="0">
              <a:buNone/>
            </a:pPr>
            <a:r>
              <a:rPr lang="en-US" sz="700" u="sng" dirty="0">
                <a:solidFill>
                  <a:srgbClr val="0292D2"/>
                </a:solidFill>
                <a:hlinkClick r:id="rId5"/>
              </a:rPr>
              <a:t>[3]</a:t>
            </a:r>
            <a:pPr indent="0" marL="0">
              <a:buNone/>
            </a:pPr>
            <a:r>
              <a:rPr lang="en-US" sz="700" u="sng" dirty="0">
                <a:solidFill>
                  <a:srgbClr val="0292D2"/>
                </a:solidFill>
                <a:hlinkClick r:id="rId6"/>
              </a:rPr>
              <a:t>[5]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2537"/>
                </a:solidFill>
              </a:rPr>
              <a:t>Key Performance Indicators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0292D2">
              <a:alpha val="80000"/>
            </a:srgbClr>
          </a:solidFill>
          <a:ln w="12700">
            <a:solidFill>
              <a:srgbClr val="0292D2"/>
            </a:solidFill>
            <a:prstDash val="solid"/>
          </a:ln>
          <a:effectLst>
            <a:outerShdw sx="100000" sy="100000" kx="0" ky="0" algn="bl" rotWithShape="0" blurRad="25400" dist="25400" dir="2700000">
              <a:srgbClr val="999999">
                <a:alpha val="20000"/>
              </a:srgbClr>
            </a:outerShdw>
          </a:effectLst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6304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3716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F39"/>
                </a:solidFill>
              </a:rPr>
              <a:t>Calls Transferred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94360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22537"/>
                </a:solidFill>
              </a:rPr>
              <a:t>—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3429000" y="118872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FFA000">
              <a:alpha val="80000"/>
            </a:srgbClr>
          </a:solidFill>
          <a:ln w="12700">
            <a:solidFill>
              <a:srgbClr val="FFA000"/>
            </a:solidFill>
            <a:prstDash val="solid"/>
          </a:ln>
          <a:effectLst>
            <a:outerShdw sx="100000" sy="100000" kx="0" ky="0" algn="bl" rotWithShape="0" blurRad="25400" dist="25400" dir="2700000">
              <a:srgbClr val="999999">
                <a:alpha val="20000"/>
              </a:srgbClr>
            </a:outerShdw>
          </a:effectLst>
        </p:spPr>
        <p:txBody>
          <a:bodyPr/>
          <a:p/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4630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31920" y="13716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F39"/>
                </a:solidFill>
              </a:rPr>
              <a:t>Form Leads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566160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22537"/>
                </a:solidFill>
              </a:rPr>
              <a:t>—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6400800" y="118872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277239">
              <a:alpha val="80000"/>
            </a:srgbClr>
          </a:solidFill>
          <a:ln w="12700">
            <a:solidFill>
              <a:srgbClr val="277239"/>
            </a:solidFill>
            <a:prstDash val="solid"/>
          </a:ln>
          <a:effectLst>
            <a:outerShdw sx="100000" sy="100000" kx="0" ky="0" algn="bl" rotWithShape="0" blurRad="25400" dist="25400" dir="2700000">
              <a:srgbClr val="999999">
                <a:alpha val="20000"/>
              </a:srgbClr>
            </a:outerShdw>
          </a:effectLst>
        </p:spPr>
        <p:txBody>
          <a:bodyPr/>
          <a:p/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46304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03720" y="13716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F39"/>
                </a:solidFill>
              </a:rPr>
              <a:t>Satisfied Clients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537960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22537"/>
                </a:solidFill>
              </a:rPr>
              <a:t>—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457200" y="274320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02405F">
              <a:alpha val="80000"/>
            </a:srgbClr>
          </a:solidFill>
          <a:ln w="12700">
            <a:solidFill>
              <a:srgbClr val="02405F"/>
            </a:solidFill>
            <a:prstDash val="solid"/>
          </a:ln>
          <a:effectLst>
            <a:outerShdw sx="100000" sy="100000" kx="0" ky="0" algn="bl" rotWithShape="0" blurRad="25400" dist="25400" dir="2700000">
              <a:srgbClr val="999999">
                <a:alpha val="20000"/>
              </a:srgbClr>
            </a:outerShdw>
          </a:effectLst>
        </p:spPr>
        <p:txBody>
          <a:bodyPr/>
          <a:p/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01752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60120" y="29260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F39"/>
                </a:solidFill>
              </a:rPr>
              <a:t>Program Renewals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594360" y="3383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22537"/>
                </a:solidFill>
              </a:rPr>
              <a:t>—</a:t>
            </a:r>
            <a:endParaRPr lang="en-US" sz="2000" dirty="0"/>
          </a:p>
        </p:txBody>
      </p:sp>
      <p:sp>
        <p:nvSpPr>
          <p:cNvPr id="19" name="Shape 13"/>
          <p:cNvSpPr/>
          <p:nvPr/>
        </p:nvSpPr>
        <p:spPr>
          <a:xfrm>
            <a:off x="3429000" y="274320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B73E18">
              <a:alpha val="80000"/>
            </a:srgbClr>
          </a:solidFill>
          <a:ln w="12700">
            <a:solidFill>
              <a:srgbClr val="B73E18"/>
            </a:solidFill>
            <a:prstDash val="solid"/>
          </a:ln>
          <a:effectLst>
            <a:outerShdw sx="100000" sy="100000" kx="0" ky="0" algn="bl" rotWithShape="0" blurRad="25400" dist="25400" dir="2700000">
              <a:srgbClr val="999999">
                <a:alpha val="20000"/>
              </a:srgbClr>
            </a:outerShdw>
          </a:effectLst>
        </p:spPr>
        <p:txBody>
          <a:bodyPr/>
          <a:p/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01752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931920" y="29260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F39"/>
                </a:solidFill>
              </a:rPr>
              <a:t>Conversion Rate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3566160" y="3383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22537"/>
                </a:solidFill>
              </a:rPr>
              <a:t>—</a:t>
            </a:r>
            <a:endParaRPr lang="en-US" sz="2000" dirty="0"/>
          </a:p>
        </p:txBody>
      </p:sp>
      <p:sp>
        <p:nvSpPr>
          <p:cNvPr id="23" name="Shape 16"/>
          <p:cNvSpPr/>
          <p:nvPr/>
        </p:nvSpPr>
        <p:spPr>
          <a:xfrm>
            <a:off x="6400800" y="274320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016EA2">
              <a:alpha val="80000"/>
            </a:srgbClr>
          </a:solidFill>
          <a:ln w="12700">
            <a:solidFill>
              <a:srgbClr val="016EA2"/>
            </a:solidFill>
            <a:prstDash val="solid"/>
          </a:ln>
          <a:effectLst>
            <a:outerShdw sx="100000" sy="100000" kx="0" ky="0" algn="bl" rotWithShape="0" blurRad="25400" dist="25400" dir="2700000">
              <a:srgbClr val="999999">
                <a:alpha val="20000"/>
              </a:srgbClr>
            </a:outerShdw>
          </a:effectLst>
        </p:spPr>
        <p:txBody>
          <a:bodyPr/>
          <a:p/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3017520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903720" y="29260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F39"/>
                </a:solidFill>
              </a:rPr>
              <a:t>Revenue Growth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6537960" y="3383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22537"/>
                </a:solidFill>
              </a:rPr>
              <a:t>—</a:t>
            </a:r>
            <a:endParaRPr lang="en-US" sz="2000" dirty="0"/>
          </a:p>
        </p:txBody>
      </p:sp>
      <p:sp>
        <p:nvSpPr>
          <p:cNvPr id="27" name="Text 19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u="sng" dirty="0">
                <a:solidFill>
                  <a:srgbClr val="0292D2"/>
                </a:solidFill>
                <a:hlinkClick r:id="rId7"/>
              </a:rPr>
              <a:t>[1]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2537">
              <a:alpha val="60000"/>
            </a:srgbClr>
          </a:solidFill>
          <a:ln w="12700">
            <a:solidFill>
              <a:srgbClr val="022537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F3F3"/>
                </a:solidFill>
              </a:rPr>
              <a:t>Exploratory Data Analysis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5943600" cy="2286000"/>
          </a:xfrm>
          <a:prstGeom prst="roundRect">
            <a:avLst>
              <a:gd name="adj" fmla="val 1600"/>
            </a:avLst>
          </a:prstGeom>
          <a:solidFill>
            <a:srgbClr val="02405F">
              <a:alpha val="40000"/>
            </a:srgbClr>
          </a:solidFill>
          <a:ln w="12700">
            <a:solidFill>
              <a:srgbClr val="0292D2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640080" y="123444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3F3"/>
                </a:solidFill>
              </a:rPr>
              <a:t>Primary Analysis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554480"/>
            <a:ext cx="5577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3F3F3"/>
                </a:solidFill>
              </a:rPr>
              <a:t>Insert chart here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675120" y="1097280"/>
            <a:ext cx="2560320" cy="1051560"/>
          </a:xfrm>
          <a:prstGeom prst="roundRect">
            <a:avLst>
              <a:gd name="adj" fmla="val 3478"/>
            </a:avLst>
          </a:prstGeom>
          <a:solidFill>
            <a:srgbClr val="277239">
              <a:alpha val="40000"/>
            </a:srgbClr>
          </a:solidFill>
          <a:ln w="12700">
            <a:solidFill>
              <a:srgbClr val="0292D2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6812280" y="1188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3F3"/>
                </a:solidFill>
              </a:rPr>
              <a:t>Distribution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12280" y="14630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3F3F3"/>
                </a:solidFill>
              </a:rPr>
              <a:t>Insert chart here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675120" y="2286000"/>
            <a:ext cx="2560320" cy="1051560"/>
          </a:xfrm>
          <a:prstGeom prst="roundRect">
            <a:avLst>
              <a:gd name="adj" fmla="val 3478"/>
            </a:avLst>
          </a:prstGeom>
          <a:solidFill>
            <a:srgbClr val="277239">
              <a:alpha val="40000"/>
            </a:srgbClr>
          </a:solidFill>
          <a:ln w="12700">
            <a:solidFill>
              <a:srgbClr val="0292D2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812280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3F3"/>
                </a:solidFill>
              </a:rPr>
              <a:t>Trend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12280" y="2651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3F3F3"/>
                </a:solidFill>
              </a:rPr>
              <a:t>Insert chart here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675120" y="3474720"/>
            <a:ext cx="2560320" cy="1051560"/>
          </a:xfrm>
          <a:prstGeom prst="roundRect">
            <a:avLst>
              <a:gd name="adj" fmla="val 3478"/>
            </a:avLst>
          </a:prstGeom>
          <a:solidFill>
            <a:srgbClr val="277239">
              <a:alpha val="40000"/>
            </a:srgbClr>
          </a:solidFill>
          <a:ln w="12700">
            <a:solidFill>
              <a:srgbClr val="0292D2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812280" y="3566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F3F3"/>
                </a:solidFill>
              </a:rPr>
              <a:t>Correlation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812280" y="3840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3F3F3"/>
                </a:solidFill>
              </a:rPr>
              <a:t>Insert chart here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u="sng" dirty="0">
                <a:solidFill>
                  <a:srgbClr val="0292D2"/>
                </a:solidFill>
                <a:hlinkClick r:id="rId2"/>
              </a:rPr>
              <a:t>[1]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2537"/>
                </a:solidFill>
              </a:rPr>
              <a:t>Deeper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463040"/>
          </a:xfrm>
          <a:prstGeom prst="roundRect">
            <a:avLst>
              <a:gd name="adj" fmla="val 3125"/>
            </a:avLst>
          </a:prstGeom>
          <a:solidFill>
            <a:srgbClr val="0292D2">
              <a:alpha val="70000"/>
            </a:srgbClr>
          </a:solidFill>
          <a:ln w="12700">
            <a:solidFill>
              <a:srgbClr val="0292D2"/>
            </a:solidFill>
            <a:prstDash val="solid"/>
          </a:ln>
          <a:effectLst>
            <a:outerShdw sx="100000" sy="100000" kx="0" ky="0" algn="bl" rotWithShape="0" blurRad="25400" dist="25400" dir="2700000">
              <a:srgbClr val="999999">
                <a:alpha val="20000"/>
              </a:srgbClr>
            </a:outerShdw>
          </a:effectLst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4447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F39"/>
                </a:solidFill>
              </a:rPr>
              <a:t>Segment Analysis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18745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2F39"/>
                </a:solidFill>
              </a:rPr>
              <a:t>Insert summary of findings or insights here.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754880" y="1188720"/>
            <a:ext cx="3931920" cy="1463040"/>
          </a:xfrm>
          <a:prstGeom prst="roundRect">
            <a:avLst>
              <a:gd name="adj" fmla="val 3125"/>
            </a:avLst>
          </a:prstGeom>
          <a:solidFill>
            <a:srgbClr val="FFA000">
              <a:alpha val="70000"/>
            </a:srgbClr>
          </a:solidFill>
          <a:ln w="12700">
            <a:solidFill>
              <a:srgbClr val="FFA000"/>
            </a:solidFill>
            <a:prstDash val="solid"/>
          </a:ln>
          <a:effectLst>
            <a:outerShdw sx="100000" sy="100000" kx="0" ky="0" algn="bl" rotWithShape="0" blurRad="25400" dist="25400" dir="2700000">
              <a:srgbClr val="999999">
                <a:alpha val="20000"/>
              </a:srgbClr>
            </a:outerShdw>
          </a:effectLst>
        </p:spPr>
        <p:txBody>
          <a:bodyPr/>
          <a:p/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6304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94960" y="14447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F39"/>
                </a:solidFill>
              </a:rPr>
              <a:t>Feature Importance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937760" y="18745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2F39"/>
                </a:solidFill>
              </a:rPr>
              <a:t>Insert summary of findings or insights here.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57200" y="3017520"/>
            <a:ext cx="3931920" cy="1463040"/>
          </a:xfrm>
          <a:prstGeom prst="roundRect">
            <a:avLst>
              <a:gd name="adj" fmla="val 3125"/>
            </a:avLst>
          </a:prstGeom>
          <a:solidFill>
            <a:srgbClr val="02405F">
              <a:alpha val="70000"/>
            </a:srgbClr>
          </a:solidFill>
          <a:ln w="12700">
            <a:solidFill>
              <a:srgbClr val="02405F"/>
            </a:solidFill>
            <a:prstDash val="solid"/>
          </a:ln>
          <a:effectLst>
            <a:outerShdw sx="100000" sy="100000" kx="0" ky="0" algn="bl" rotWithShape="0" blurRad="25400" dist="25400" dir="2700000">
              <a:srgbClr val="999999">
                <a:alpha val="20000"/>
              </a:srgbClr>
            </a:outerShdw>
          </a:effectLst>
        </p:spPr>
        <p:txBody>
          <a:bodyPr/>
          <a:p/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9184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32735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F39"/>
                </a:solidFill>
              </a:rPr>
              <a:t>Relationship Graph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40080" y="37033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2F39"/>
                </a:solidFill>
              </a:rPr>
              <a:t>Insert summary of findings or insights here.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754880" y="3017520"/>
            <a:ext cx="3931920" cy="1463040"/>
          </a:xfrm>
          <a:prstGeom prst="roundRect">
            <a:avLst>
              <a:gd name="adj" fmla="val 3125"/>
            </a:avLst>
          </a:prstGeom>
          <a:solidFill>
            <a:srgbClr val="B73E18">
              <a:alpha val="70000"/>
            </a:srgbClr>
          </a:solidFill>
          <a:ln w="12700">
            <a:solidFill>
              <a:srgbClr val="B73E18"/>
            </a:solidFill>
            <a:prstDash val="solid"/>
          </a:ln>
          <a:effectLst>
            <a:outerShdw sx="100000" sy="100000" kx="0" ky="0" algn="bl" rotWithShape="0" blurRad="25400" dist="25400" dir="2700000">
              <a:srgbClr val="999999">
                <a:alpha val="20000"/>
              </a:srgbClr>
            </a:outerShdw>
          </a:effectLst>
        </p:spPr>
        <p:txBody>
          <a:bodyPr/>
          <a:p/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29184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394960" y="32735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F39"/>
                </a:solidFill>
              </a:rPr>
              <a:t>Correlation Study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4937760" y="37033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2F39"/>
                </a:solidFill>
              </a:rPr>
              <a:t>Insert summary of findings or insights here.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u="sng" dirty="0">
                <a:solidFill>
                  <a:srgbClr val="0292D2"/>
                </a:solidFill>
                <a:hlinkClick r:id="rId5"/>
              </a:rPr>
              <a:t>[1]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2537"/>
                </a:solidFill>
              </a:rPr>
              <a:t>Model Explanation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77240" y="1371600"/>
            <a:ext cx="1828800" cy="1097280"/>
          </a:xfrm>
          <a:prstGeom prst="roundRect">
            <a:avLst>
              <a:gd name="adj" fmla="val 4167"/>
            </a:avLst>
          </a:prstGeom>
          <a:solidFill>
            <a:srgbClr val="0292D2">
              <a:alpha val="70000"/>
            </a:srgbClr>
          </a:solidFill>
          <a:ln w="12700">
            <a:solidFill>
              <a:srgbClr val="0292D2"/>
            </a:solidFill>
            <a:prstDash val="solid"/>
          </a:ln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19072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6916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F39"/>
                </a:solidFill>
              </a:rPr>
              <a:t>Data Input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606040" y="1737360"/>
            <a:ext cx="274320" cy="365760"/>
          </a:xfrm>
          <a:prstGeom prst="rightArrow">
            <a:avLst/>
          </a:prstGeom>
          <a:solidFill>
            <a:srgbClr val="022537"/>
          </a:solidFill>
          <a:ln w="12700">
            <a:solidFill>
              <a:srgbClr val="022537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2880360" y="1371600"/>
            <a:ext cx="1828800" cy="1097280"/>
          </a:xfrm>
          <a:prstGeom prst="roundRect">
            <a:avLst>
              <a:gd name="adj" fmla="val 4167"/>
            </a:avLst>
          </a:prstGeom>
          <a:solidFill>
            <a:srgbClr val="FFA000">
              <a:alpha val="70000"/>
            </a:srgbClr>
          </a:solidFill>
          <a:ln w="12700">
            <a:solidFill>
              <a:srgbClr val="FFA000"/>
            </a:solidFill>
            <a:prstDash val="solid"/>
          </a:ln>
        </p:spPr>
        <p:txBody>
          <a:bodyPr/>
          <a:p/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719072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83280" y="16916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F39"/>
                </a:solidFill>
              </a:rPr>
              <a:t>Preprocessing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709160" y="1737360"/>
            <a:ext cx="274320" cy="365760"/>
          </a:xfrm>
          <a:prstGeom prst="rightArrow">
            <a:avLst/>
          </a:prstGeom>
          <a:solidFill>
            <a:srgbClr val="022537"/>
          </a:solidFill>
          <a:ln w="12700">
            <a:solidFill>
              <a:srgbClr val="022537"/>
            </a:solidFill>
            <a:prstDash val="solid"/>
          </a:ln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4983480" y="1371600"/>
            <a:ext cx="1828800" cy="1097280"/>
          </a:xfrm>
          <a:prstGeom prst="roundRect">
            <a:avLst>
              <a:gd name="adj" fmla="val 4167"/>
            </a:avLst>
          </a:prstGeom>
          <a:solidFill>
            <a:srgbClr val="02405F">
              <a:alpha val="70000"/>
            </a:srgbClr>
          </a:solidFill>
          <a:ln w="12700">
            <a:solidFill>
              <a:srgbClr val="02405F"/>
            </a:solidFill>
            <a:prstDash val="solid"/>
          </a:ln>
        </p:spPr>
        <p:txBody>
          <a:bodyPr/>
          <a:p/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719072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86400" y="16916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F39"/>
                </a:solidFill>
              </a:rPr>
              <a:t>Model Training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812280" y="1737360"/>
            <a:ext cx="274320" cy="365760"/>
          </a:xfrm>
          <a:prstGeom prst="rightArrow">
            <a:avLst/>
          </a:prstGeom>
          <a:solidFill>
            <a:srgbClr val="022537"/>
          </a:solidFill>
          <a:ln w="12700">
            <a:solidFill>
              <a:srgbClr val="022537"/>
            </a:solidFill>
            <a:prstDash val="solid"/>
          </a:ln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7086600" y="1371600"/>
            <a:ext cx="1828800" cy="1097280"/>
          </a:xfrm>
          <a:prstGeom prst="roundRect">
            <a:avLst>
              <a:gd name="adj" fmla="val 4167"/>
            </a:avLst>
          </a:prstGeom>
          <a:solidFill>
            <a:srgbClr val="277239">
              <a:alpha val="70000"/>
            </a:srgbClr>
          </a:solidFill>
          <a:ln w="12700">
            <a:solidFill>
              <a:srgbClr val="277239"/>
            </a:solidFill>
            <a:prstDash val="solid"/>
          </a:ln>
        </p:spPr>
        <p:txBody>
          <a:bodyPr/>
          <a:p/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1719072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589520" y="16916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F39"/>
                </a:solidFill>
              </a:rPr>
              <a:t>Evaluation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914400" y="2926080"/>
            <a:ext cx="7315200" cy="1554480"/>
          </a:xfrm>
          <a:prstGeom prst="roundRect">
            <a:avLst>
              <a:gd name="adj" fmla="val 2941"/>
            </a:avLst>
          </a:prstGeom>
          <a:solidFill>
            <a:srgbClr val="02405F">
              <a:alpha val="40000"/>
            </a:srgbClr>
          </a:solidFill>
          <a:ln w="12700">
            <a:solidFill>
              <a:srgbClr val="0292D2"/>
            </a:solidFill>
            <a:prstDash val="solid"/>
          </a:ln>
        </p:spPr>
        <p:txBody>
          <a:bodyPr/>
          <a:p/>
        </p:txBody>
      </p:sp>
      <p:sp>
        <p:nvSpPr>
          <p:cNvPr id="19" name="Text 13"/>
          <p:cNvSpPr/>
          <p:nvPr/>
        </p:nvSpPr>
        <p:spPr>
          <a:xfrm>
            <a:off x="1097280" y="3108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3F3"/>
                </a:solidFill>
              </a:rPr>
              <a:t>Performance Metrics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097280" y="3383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3F3"/>
                </a:solidFill>
              </a:rPr>
              <a:t>Accuracy: —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097280" y="3657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3F3"/>
                </a:solidFill>
              </a:rPr>
              <a:t>Precision: —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1097280" y="39319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3F3"/>
                </a:solidFill>
              </a:rPr>
              <a:t>Recall: —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754880" y="3108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3F3"/>
                </a:solidFill>
              </a:rPr>
              <a:t>Confusion Matrix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4754880" y="3429000"/>
            <a:ext cx="3291840" cy="822960"/>
          </a:xfrm>
          <a:prstGeom prst="roundRect">
            <a:avLst>
              <a:gd name="adj" fmla="val 4444"/>
            </a:avLst>
          </a:prstGeom>
          <a:solidFill>
            <a:srgbClr val="277239">
              <a:alpha val="40000"/>
            </a:srgbClr>
          </a:solidFill>
          <a:ln w="12700">
            <a:solidFill>
              <a:srgbClr val="0292D2"/>
            </a:solidFill>
            <a:prstDash val="solid"/>
          </a:ln>
        </p:spPr>
        <p:txBody>
          <a:bodyPr/>
          <a:p/>
        </p:txBody>
      </p:sp>
      <p:sp>
        <p:nvSpPr>
          <p:cNvPr id="25" name="Text 19"/>
          <p:cNvSpPr/>
          <p:nvPr/>
        </p:nvSpPr>
        <p:spPr>
          <a:xfrm>
            <a:off x="4754880" y="34290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3F3F3"/>
                </a:solidFill>
              </a:rPr>
              <a:t>Insert matrix here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u="sng" dirty="0">
                <a:solidFill>
                  <a:srgbClr val="0292D2"/>
                </a:solidFill>
                <a:hlinkClick r:id="rId5"/>
              </a:rPr>
              <a:t>[1]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2537"/>
                </a:solidFill>
              </a:rPr>
              <a:t>Insights &amp; 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2926080"/>
          </a:xfrm>
          <a:prstGeom prst="roundRect">
            <a:avLst>
              <a:gd name="adj" fmla="val 1563"/>
            </a:avLst>
          </a:prstGeom>
          <a:solidFill>
            <a:srgbClr val="02405F">
              <a:alpha val="40000"/>
            </a:srgbClr>
          </a:solidFill>
          <a:ln w="12700">
            <a:solidFill>
              <a:srgbClr val="0292D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F3F3"/>
                </a:solidFill>
              </a:rPr>
              <a:t>Key Insights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828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3F3"/>
                </a:solidFill>
              </a:rPr>
              <a:t>Peak call times reveal prime opportunities for lead capture.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46888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24688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3F3"/>
                </a:solidFill>
              </a:rPr>
              <a:t>Customer satisfaction correlates strongly with call resolution speed.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0896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840" y="3108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3F3"/>
                </a:solidFill>
              </a:rPr>
              <a:t>Conversion rates vary significantly by service category.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4663440" y="1188720"/>
            <a:ext cx="4023360" cy="2926080"/>
          </a:xfrm>
          <a:prstGeom prst="roundRect">
            <a:avLst>
              <a:gd name="adj" fmla="val 1563"/>
            </a:avLst>
          </a:prstGeom>
          <a:solidFill>
            <a:srgbClr val="277239">
              <a:alpha val="40000"/>
            </a:srgbClr>
          </a:solidFill>
          <a:ln w="12700">
            <a:solidFill>
              <a:srgbClr val="0292D2"/>
            </a:solidFill>
            <a:prstDash val="solid"/>
          </a:ln>
        </p:spPr>
        <p:txBody>
          <a:bodyPr/>
          <a:p/>
        </p:txBody>
      </p:sp>
      <p:sp>
        <p:nvSpPr>
          <p:cNvPr id="12" name="Text 7"/>
          <p:cNvSpPr/>
          <p:nvPr/>
        </p:nvSpPr>
        <p:spPr>
          <a:xfrm>
            <a:off x="484632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F3F3"/>
                </a:solidFill>
              </a:rPr>
              <a:t>Recommended Actions</a:t>
            </a:r>
            <a:endParaRPr lang="en-US" sz="18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828800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212080" y="1828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3F3"/>
                </a:solidFill>
              </a:rPr>
              <a:t>Optimise staffing during high call volume periods.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2468880"/>
            <a:ext cx="274320" cy="2743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12080" y="24688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3F3"/>
                </a:solidFill>
              </a:rPr>
              <a:t>Implement training to improve call resolution efficiency.</a:t>
            </a:r>
            <a:endParaRPr lang="en-US" sz="11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108960"/>
            <a:ext cx="274320" cy="27432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212080" y="3108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3F3"/>
                </a:solidFill>
              </a:rPr>
              <a:t>Tailor marketing by prioritising top‑converting services.</a:t>
            </a:r>
            <a:endParaRPr lang="en-US" sz="1100" dirty="0"/>
          </a:p>
        </p:txBody>
      </p:sp>
      <p:sp>
        <p:nvSpPr>
          <p:cNvPr id="19" name="Text 11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u="sng" dirty="0">
                <a:solidFill>
                  <a:srgbClr val="0292D2"/>
                </a:solidFill>
                <a:hlinkClick r:id="rId7"/>
              </a:rPr>
              <a:t>[4]</a:t>
            </a:r>
            <a:pPr indent="0" marL="0">
              <a:buNone/>
            </a:pPr>
            <a:r>
              <a:rPr lang="en-US" sz="700" u="sng" dirty="0">
                <a:solidFill>
                  <a:srgbClr val="0292D2"/>
                </a:solidFill>
                <a:hlinkClick r:id="rId8"/>
              </a:rPr>
              <a:t>[6]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2537"/>
                </a:solidFill>
              </a:rPr>
              <a:t>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77240" y="1645920"/>
            <a:ext cx="1828800" cy="1097280"/>
          </a:xfrm>
          <a:prstGeom prst="roundRect">
            <a:avLst>
              <a:gd name="adj" fmla="val 4167"/>
            </a:avLst>
          </a:prstGeom>
          <a:solidFill>
            <a:srgbClr val="FFA000">
              <a:alpha val="70000"/>
            </a:srgbClr>
          </a:solidFill>
          <a:ln w="12700">
            <a:solidFill>
              <a:srgbClr val="FFA000"/>
            </a:solidFill>
            <a:prstDash val="solid"/>
          </a:ln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93392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9659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F39"/>
                </a:solidFill>
              </a:rPr>
              <a:t>Implement Changes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606040" y="2011680"/>
            <a:ext cx="274320" cy="365760"/>
          </a:xfrm>
          <a:prstGeom prst="rightArrow">
            <a:avLst/>
          </a:prstGeom>
          <a:solidFill>
            <a:srgbClr val="022537"/>
          </a:solidFill>
          <a:ln w="12700">
            <a:solidFill>
              <a:srgbClr val="022537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2880360" y="1645920"/>
            <a:ext cx="1828800" cy="1097280"/>
          </a:xfrm>
          <a:prstGeom prst="roundRect">
            <a:avLst>
              <a:gd name="adj" fmla="val 4167"/>
            </a:avLst>
          </a:prstGeom>
          <a:solidFill>
            <a:srgbClr val="0292D2">
              <a:alpha val="70000"/>
            </a:srgbClr>
          </a:solidFill>
          <a:ln w="12700">
            <a:solidFill>
              <a:srgbClr val="0292D2"/>
            </a:solidFill>
            <a:prstDash val="solid"/>
          </a:ln>
        </p:spPr>
        <p:txBody>
          <a:bodyPr/>
          <a:p/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993392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83280" y="19659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F39"/>
                </a:solidFill>
              </a:rPr>
              <a:t>Monitor KPIs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709160" y="2011680"/>
            <a:ext cx="274320" cy="365760"/>
          </a:xfrm>
          <a:prstGeom prst="rightArrow">
            <a:avLst/>
          </a:prstGeom>
          <a:solidFill>
            <a:srgbClr val="022537"/>
          </a:solidFill>
          <a:ln w="12700">
            <a:solidFill>
              <a:srgbClr val="022537"/>
            </a:solidFill>
            <a:prstDash val="solid"/>
          </a:ln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4983480" y="1645920"/>
            <a:ext cx="1828800" cy="1097280"/>
          </a:xfrm>
          <a:prstGeom prst="roundRect">
            <a:avLst>
              <a:gd name="adj" fmla="val 4167"/>
            </a:avLst>
          </a:prstGeom>
          <a:solidFill>
            <a:srgbClr val="02405F">
              <a:alpha val="70000"/>
            </a:srgbClr>
          </a:solidFill>
          <a:ln w="12700">
            <a:solidFill>
              <a:srgbClr val="02405F"/>
            </a:solidFill>
            <a:prstDash val="solid"/>
          </a:ln>
        </p:spPr>
        <p:txBody>
          <a:bodyPr/>
          <a:p/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993392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86400" y="19659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F39"/>
                </a:solidFill>
              </a:rPr>
              <a:t>Refine Models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812280" y="2011680"/>
            <a:ext cx="274320" cy="365760"/>
          </a:xfrm>
          <a:prstGeom prst="rightArrow">
            <a:avLst/>
          </a:prstGeom>
          <a:solidFill>
            <a:srgbClr val="022537"/>
          </a:solidFill>
          <a:ln w="12700">
            <a:solidFill>
              <a:srgbClr val="022537"/>
            </a:solidFill>
            <a:prstDash val="solid"/>
          </a:ln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7086600" y="1645920"/>
            <a:ext cx="1828800" cy="1097280"/>
          </a:xfrm>
          <a:prstGeom prst="roundRect">
            <a:avLst>
              <a:gd name="adj" fmla="val 4167"/>
            </a:avLst>
          </a:prstGeom>
          <a:solidFill>
            <a:srgbClr val="277239">
              <a:alpha val="70000"/>
            </a:srgbClr>
          </a:solidFill>
          <a:ln w="12700">
            <a:solidFill>
              <a:srgbClr val="277239"/>
            </a:solidFill>
            <a:prstDash val="solid"/>
          </a:ln>
        </p:spPr>
        <p:txBody>
          <a:bodyPr/>
          <a:p/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1993392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589520" y="19659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F39"/>
                </a:solidFill>
              </a:rPr>
              <a:t>Continuous Improvement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B73E18"/>
                </a:solidFill>
              </a:rPr>
              <a:t>Engage. Analyse. Improve.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u="sng" dirty="0">
                <a:solidFill>
                  <a:srgbClr val="0292D2"/>
                </a:solidFill>
                <a:hlinkClick r:id="rId5"/>
              </a:rPr>
              <a:t>[5]</a:t>
            </a:r>
            <a:pPr indent="0" marL="0">
              <a:buNone/>
            </a:pPr>
            <a:r>
              <a:rPr lang="en-US" sz="700" u="sng" dirty="0">
                <a:solidFill>
                  <a:srgbClr val="0292D2"/>
                </a:solidFill>
                <a:hlinkClick r:id="rId6"/>
              </a:rPr>
              <a:t>[6]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2026-02-02T15:49:14Z</dcterms:created>
  <dcterms:modified xsi:type="dcterms:W3CDTF">2026-02-02T15:49:14Z</dcterms:modified>
</cp:coreProperties>
</file>