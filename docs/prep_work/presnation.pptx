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66" r:id="rId3"/>
    <p:sldId id="26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009"/>
    <p:restoredTop sz="94610"/>
  </p:normalViewPr>
  <p:slideViewPr>
    <p:cSldViewPr snapToGrid="0" snapToObjects="1">
      <p:cViewPr varScale="1">
        <p:scale>
          <a:sx n="180" d="100"/>
          <a:sy n="180" d="100"/>
        </p:scale>
        <p:origin x="208" y="6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D839A446-48BE-774C-9445-E989809F45C4}" type="doc">
      <dgm:prSet loTypeId="urn:microsoft.com/office/officeart/2005/8/layout/bProcess3" loCatId="" qsTypeId="urn:microsoft.com/office/officeart/2005/8/quickstyle/simple1" qsCatId="simple" csTypeId="urn:microsoft.com/office/officeart/2005/8/colors/colorful1" csCatId="colorful" phldr="1"/>
      <dgm:spPr/>
      <dgm:t>
        <a:bodyPr/>
        <a:lstStyle/>
        <a:p>
          <a:endParaRPr lang="en-US"/>
        </a:p>
      </dgm:t>
    </dgm:pt>
    <dgm:pt modelId="{F83FBD71-47F0-144D-9527-D9929986E13E}">
      <dgm:prSet phldrT="[Text]" custT="1"/>
      <dgm:spPr/>
      <dgm:t>
        <a:bodyPr anchor="t" anchorCtr="0"/>
        <a:lstStyle/>
        <a:p>
          <a:r>
            <a:rPr lang="en-US" sz="1400" dirty="0">
              <a:solidFill>
                <a:schemeClr val="lt1"/>
              </a:solidFill>
            </a:rPr>
            <a:t>Decompose the Ask</a:t>
          </a:r>
        </a:p>
      </dgm:t>
    </dgm:pt>
    <dgm:pt modelId="{23D81188-2A02-0949-B3AF-F2A70C2CDDEC}" type="parTrans" cxnId="{F7A565E9-E696-3741-9193-1243B6A9C025}">
      <dgm:prSet/>
      <dgm:spPr/>
      <dgm:t>
        <a:bodyPr/>
        <a:lstStyle/>
        <a:p>
          <a:endParaRPr lang="en-US">
            <a:solidFill>
              <a:sysClr val="windowText" lastClr="000000"/>
            </a:solidFill>
          </a:endParaRPr>
        </a:p>
      </dgm:t>
    </dgm:pt>
    <dgm:pt modelId="{54C61590-E056-9245-8161-6E3FE82799B1}" type="sibTrans" cxnId="{F7A565E9-E696-3741-9193-1243B6A9C025}">
      <dgm:prSet/>
      <dgm:spPr/>
      <dgm:t>
        <a:bodyPr/>
        <a:lstStyle/>
        <a:p>
          <a:endParaRPr lang="en-US">
            <a:solidFill>
              <a:schemeClr val="lt1"/>
            </a:solidFill>
          </a:endParaRPr>
        </a:p>
      </dgm:t>
    </dgm:pt>
    <dgm:pt modelId="{F9BE5C76-4BDE-F44F-9AD0-DC45C18AA58B}">
      <dgm:prSet phldrT="[Text]" custT="1"/>
      <dgm:spPr/>
      <dgm:t>
        <a:bodyPr anchor="t" anchorCtr="0"/>
        <a:lstStyle/>
        <a:p>
          <a:r>
            <a:rPr lang="en-US" sz="1400" dirty="0">
              <a:solidFill>
                <a:schemeClr val="lt1"/>
              </a:solidFill>
            </a:rPr>
            <a:t>Assign a Domain Knowledge Template</a:t>
          </a:r>
        </a:p>
      </dgm:t>
    </dgm:pt>
    <dgm:pt modelId="{6433C981-6B76-A342-AFEB-ADCCA0F19CC5}" type="parTrans" cxnId="{AAB9253E-5710-E943-B3A0-497B62B00A92}">
      <dgm:prSet/>
      <dgm:spPr/>
      <dgm:t>
        <a:bodyPr/>
        <a:lstStyle/>
        <a:p>
          <a:endParaRPr lang="en-US">
            <a:solidFill>
              <a:sysClr val="windowText" lastClr="000000"/>
            </a:solidFill>
          </a:endParaRPr>
        </a:p>
      </dgm:t>
    </dgm:pt>
    <dgm:pt modelId="{EAB0DDFA-B3D8-F443-A4FD-EFCD897420A2}" type="sibTrans" cxnId="{AAB9253E-5710-E943-B3A0-497B62B00A92}">
      <dgm:prSet/>
      <dgm:spPr/>
      <dgm:t>
        <a:bodyPr/>
        <a:lstStyle/>
        <a:p>
          <a:endParaRPr lang="en-US">
            <a:solidFill>
              <a:schemeClr val="lt1"/>
            </a:solidFill>
          </a:endParaRPr>
        </a:p>
      </dgm:t>
    </dgm:pt>
    <dgm:pt modelId="{767FF3EA-FB46-4249-A9BD-015B8E56E552}">
      <dgm:prSet phldrT="[Text]" custT="1"/>
      <dgm:spPr/>
      <dgm:t>
        <a:bodyPr anchor="t" anchorCtr="0"/>
        <a:lstStyle/>
        <a:p>
          <a:r>
            <a:rPr lang="en-US" sz="1400" dirty="0">
              <a:solidFill>
                <a:schemeClr val="lt1"/>
              </a:solidFill>
            </a:rPr>
            <a:t>Perform Templated EDA</a:t>
          </a:r>
        </a:p>
      </dgm:t>
    </dgm:pt>
    <dgm:pt modelId="{BC062544-DB25-4049-836F-AE29D543037F}" type="parTrans" cxnId="{BCC99087-3A9C-3343-8077-2BFBFC73BA4A}">
      <dgm:prSet/>
      <dgm:spPr/>
      <dgm:t>
        <a:bodyPr/>
        <a:lstStyle/>
        <a:p>
          <a:endParaRPr lang="en-US">
            <a:solidFill>
              <a:sysClr val="windowText" lastClr="000000"/>
            </a:solidFill>
          </a:endParaRPr>
        </a:p>
      </dgm:t>
    </dgm:pt>
    <dgm:pt modelId="{647F0353-CDFC-FF40-8E0A-317DB9C630FE}" type="sibTrans" cxnId="{BCC99087-3A9C-3343-8077-2BFBFC73BA4A}">
      <dgm:prSet/>
      <dgm:spPr/>
      <dgm:t>
        <a:bodyPr/>
        <a:lstStyle/>
        <a:p>
          <a:endParaRPr lang="en-US">
            <a:solidFill>
              <a:schemeClr val="lt1"/>
            </a:solidFill>
          </a:endParaRPr>
        </a:p>
      </dgm:t>
    </dgm:pt>
    <dgm:pt modelId="{8186E41F-EEC5-3143-A8FE-FE2D895D9CB8}">
      <dgm:prSet phldrT="[Text]" custT="1"/>
      <dgm:spPr/>
      <dgm:t>
        <a:bodyPr/>
        <a:lstStyle/>
        <a:p>
          <a:pPr algn="ctr"/>
          <a:r>
            <a:rPr lang="en-US" sz="1400" dirty="0">
              <a:solidFill>
                <a:schemeClr val="lt1"/>
              </a:solidFill>
            </a:rPr>
            <a:t>ML choice </a:t>
          </a:r>
        </a:p>
      </dgm:t>
    </dgm:pt>
    <dgm:pt modelId="{7D42A449-FF14-9144-AFE0-187AABC31160}" type="parTrans" cxnId="{AC4C7CF8-AD5E-FE4B-9BEB-5B94DB938F0B}">
      <dgm:prSet/>
      <dgm:spPr/>
      <dgm:t>
        <a:bodyPr/>
        <a:lstStyle/>
        <a:p>
          <a:endParaRPr lang="en-US">
            <a:solidFill>
              <a:sysClr val="windowText" lastClr="000000"/>
            </a:solidFill>
          </a:endParaRPr>
        </a:p>
      </dgm:t>
    </dgm:pt>
    <dgm:pt modelId="{BDF8BE6C-E9F7-A843-BDC0-401E4E6FA484}" type="sibTrans" cxnId="{AC4C7CF8-AD5E-FE4B-9BEB-5B94DB938F0B}">
      <dgm:prSet/>
      <dgm:spPr/>
      <dgm:t>
        <a:bodyPr/>
        <a:lstStyle/>
        <a:p>
          <a:endParaRPr lang="en-US">
            <a:solidFill>
              <a:schemeClr val="lt1"/>
            </a:solidFill>
          </a:endParaRPr>
        </a:p>
      </dgm:t>
    </dgm:pt>
    <dgm:pt modelId="{28B446F2-F69D-3441-9994-E2A022A0AF1D}">
      <dgm:prSet phldrT="[Text]" custT="1"/>
      <dgm:spPr/>
      <dgm:t>
        <a:bodyPr anchor="t" anchorCtr="0"/>
        <a:lstStyle/>
        <a:p>
          <a:r>
            <a:rPr lang="en-US" sz="1400" dirty="0">
              <a:solidFill>
                <a:schemeClr val="lt1"/>
              </a:solidFill>
            </a:rPr>
            <a:t>Use Company Research to determine most like Domain Knowledge Templates</a:t>
          </a:r>
        </a:p>
      </dgm:t>
    </dgm:pt>
    <dgm:pt modelId="{441A25B4-A83B-7A4C-9076-1AEA57E727EC}" type="parTrans" cxnId="{3FC4A86D-741C-EB42-9504-BD1BDF8CF0F0}">
      <dgm:prSet/>
      <dgm:spPr/>
      <dgm:t>
        <a:bodyPr/>
        <a:lstStyle/>
        <a:p>
          <a:endParaRPr lang="en-US">
            <a:solidFill>
              <a:sysClr val="windowText" lastClr="000000"/>
            </a:solidFill>
          </a:endParaRPr>
        </a:p>
      </dgm:t>
    </dgm:pt>
    <dgm:pt modelId="{35D28C18-8914-BF45-8DE6-5FFC3DCABAC7}" type="sibTrans" cxnId="{3FC4A86D-741C-EB42-9504-BD1BDF8CF0F0}">
      <dgm:prSet/>
      <dgm:spPr/>
      <dgm:t>
        <a:bodyPr/>
        <a:lstStyle/>
        <a:p>
          <a:endParaRPr lang="en-US">
            <a:solidFill>
              <a:schemeClr val="lt1"/>
            </a:solidFill>
          </a:endParaRPr>
        </a:p>
      </dgm:t>
    </dgm:pt>
    <dgm:pt modelId="{2D5C3820-4477-3342-A4E3-4DD56068002E}">
      <dgm:prSet/>
      <dgm:spPr/>
      <dgm:t>
        <a:bodyPr/>
        <a:lstStyle/>
        <a:p>
          <a:r>
            <a:rPr lang="en-US" dirty="0">
              <a:solidFill>
                <a:schemeClr val="lt1"/>
              </a:solidFill>
            </a:rPr>
            <a:t>Data Transformation</a:t>
          </a:r>
        </a:p>
      </dgm:t>
    </dgm:pt>
    <dgm:pt modelId="{58976FAF-13DC-4146-8C4E-359B3F62E9CE}" type="parTrans" cxnId="{0523597B-8080-C046-8D1E-BC8EE483D507}">
      <dgm:prSet/>
      <dgm:spPr/>
      <dgm:t>
        <a:bodyPr/>
        <a:lstStyle/>
        <a:p>
          <a:endParaRPr lang="en-US">
            <a:solidFill>
              <a:sysClr val="windowText" lastClr="000000"/>
            </a:solidFill>
          </a:endParaRPr>
        </a:p>
      </dgm:t>
    </dgm:pt>
    <dgm:pt modelId="{E5594B21-F38C-734E-A07C-A8A8639434E8}" type="sibTrans" cxnId="{0523597B-8080-C046-8D1E-BC8EE483D507}">
      <dgm:prSet/>
      <dgm:spPr/>
      <dgm:t>
        <a:bodyPr/>
        <a:lstStyle/>
        <a:p>
          <a:endParaRPr lang="en-US">
            <a:solidFill>
              <a:schemeClr val="lt1"/>
            </a:solidFill>
          </a:endParaRPr>
        </a:p>
      </dgm:t>
    </dgm:pt>
    <dgm:pt modelId="{373A25F7-468A-384E-ADEB-9810A3381D3E}">
      <dgm:prSet/>
      <dgm:spPr/>
      <dgm:t>
        <a:bodyPr/>
        <a:lstStyle/>
        <a:p>
          <a:r>
            <a:rPr lang="en-US" dirty="0">
              <a:solidFill>
                <a:schemeClr val="lt1"/>
              </a:solidFill>
            </a:rPr>
            <a:t>ML Building and Optimizing</a:t>
          </a:r>
        </a:p>
      </dgm:t>
    </dgm:pt>
    <dgm:pt modelId="{C7A0C0DF-50C6-BA42-B632-DD78984272A4}" type="parTrans" cxnId="{D402C221-105A-F64D-B3B0-8A3F31D0F82F}">
      <dgm:prSet/>
      <dgm:spPr/>
      <dgm:t>
        <a:bodyPr/>
        <a:lstStyle/>
        <a:p>
          <a:endParaRPr lang="en-US">
            <a:solidFill>
              <a:sysClr val="windowText" lastClr="000000"/>
            </a:solidFill>
          </a:endParaRPr>
        </a:p>
      </dgm:t>
    </dgm:pt>
    <dgm:pt modelId="{B5C024E7-8001-7F47-A1CF-C82632C4BE26}" type="sibTrans" cxnId="{D402C221-105A-F64D-B3B0-8A3F31D0F82F}">
      <dgm:prSet/>
      <dgm:spPr/>
      <dgm:t>
        <a:bodyPr/>
        <a:lstStyle/>
        <a:p>
          <a:endParaRPr lang="en-US">
            <a:solidFill>
              <a:sysClr val="windowText" lastClr="000000"/>
            </a:solidFill>
          </a:endParaRPr>
        </a:p>
      </dgm:t>
    </dgm:pt>
    <dgm:pt modelId="{22CC63E6-4289-E144-BDA8-9636FBB2ECA8}">
      <dgm:prSet custT="1"/>
      <dgm:spPr/>
      <dgm:t>
        <a:bodyPr anchor="t" anchorCtr="0"/>
        <a:lstStyle/>
        <a:p>
          <a:r>
            <a:rPr lang="en-US" sz="1400" dirty="0">
              <a:solidFill>
                <a:schemeClr val="lt1"/>
              </a:solidFill>
            </a:rPr>
            <a:t>Gather additional data as needed</a:t>
          </a:r>
        </a:p>
      </dgm:t>
    </dgm:pt>
    <dgm:pt modelId="{F30FF56A-5181-674C-BF93-82283C49B288}" type="parTrans" cxnId="{E7717845-2748-D342-8F1D-8925634FA72B}">
      <dgm:prSet/>
      <dgm:spPr/>
      <dgm:t>
        <a:bodyPr/>
        <a:lstStyle/>
        <a:p>
          <a:endParaRPr lang="en-US">
            <a:solidFill>
              <a:sysClr val="windowText" lastClr="000000"/>
            </a:solidFill>
          </a:endParaRPr>
        </a:p>
      </dgm:t>
    </dgm:pt>
    <dgm:pt modelId="{F1FB9C78-97B0-DF47-B904-B43007789B09}" type="sibTrans" cxnId="{E7717845-2748-D342-8F1D-8925634FA72B}">
      <dgm:prSet/>
      <dgm:spPr/>
      <dgm:t>
        <a:bodyPr/>
        <a:lstStyle/>
        <a:p>
          <a:endParaRPr lang="en-US">
            <a:solidFill>
              <a:schemeClr val="lt1"/>
            </a:solidFill>
          </a:endParaRPr>
        </a:p>
      </dgm:t>
    </dgm:pt>
    <dgm:pt modelId="{83B46192-CC01-9B45-BA46-19B4C9BC5DD0}">
      <dgm:prSet/>
      <dgm:spPr/>
      <dgm:t>
        <a:bodyPr/>
        <a:lstStyle/>
        <a:p>
          <a:r>
            <a:rPr lang="en-US" dirty="0">
              <a:solidFill>
                <a:schemeClr val="lt1"/>
              </a:solidFill>
            </a:rPr>
            <a:t>QA on Ask Answer</a:t>
          </a:r>
        </a:p>
      </dgm:t>
    </dgm:pt>
    <dgm:pt modelId="{3E818951-E054-CD45-9D3F-060CC1EB3694}" type="parTrans" cxnId="{09CEE64B-BF04-3F4E-9537-AD710208FA1C}">
      <dgm:prSet/>
      <dgm:spPr/>
      <dgm:t>
        <a:bodyPr/>
        <a:lstStyle/>
        <a:p>
          <a:endParaRPr lang="en-US"/>
        </a:p>
      </dgm:t>
    </dgm:pt>
    <dgm:pt modelId="{9EE881A6-28F5-D24D-8F5D-E7CC420A0CB9}" type="sibTrans" cxnId="{09CEE64B-BF04-3F4E-9537-AD710208FA1C}">
      <dgm:prSet/>
      <dgm:spPr/>
      <dgm:t>
        <a:bodyPr/>
        <a:lstStyle/>
        <a:p>
          <a:endParaRPr lang="en-US"/>
        </a:p>
      </dgm:t>
    </dgm:pt>
    <dgm:pt modelId="{D189D7DE-7FC0-DB42-8DBA-0BCB7B89CAB0}" type="pres">
      <dgm:prSet presAssocID="{D839A446-48BE-774C-9445-E989809F45C4}" presName="Name0" presStyleCnt="0">
        <dgm:presLayoutVars>
          <dgm:dir/>
          <dgm:resizeHandles val="exact"/>
        </dgm:presLayoutVars>
      </dgm:prSet>
      <dgm:spPr/>
    </dgm:pt>
    <dgm:pt modelId="{11F0A2D3-153B-C54B-9933-8B07E1F5EBEE}" type="pres">
      <dgm:prSet presAssocID="{28B446F2-F69D-3441-9994-E2A022A0AF1D}" presName="node" presStyleLbl="node1" presStyleIdx="0" presStyleCnt="9">
        <dgm:presLayoutVars>
          <dgm:bulletEnabled val="1"/>
        </dgm:presLayoutVars>
      </dgm:prSet>
      <dgm:spPr/>
    </dgm:pt>
    <dgm:pt modelId="{FE850577-1847-1449-A6ED-E79368D9CA22}" type="pres">
      <dgm:prSet presAssocID="{35D28C18-8914-BF45-8DE6-5FFC3DCABAC7}" presName="sibTrans" presStyleLbl="sibTrans1D1" presStyleIdx="0" presStyleCnt="8"/>
      <dgm:spPr/>
    </dgm:pt>
    <dgm:pt modelId="{D1C55B21-4939-C84E-BF74-7D29DEA1B2E4}" type="pres">
      <dgm:prSet presAssocID="{35D28C18-8914-BF45-8DE6-5FFC3DCABAC7}" presName="connectorText" presStyleLbl="sibTrans1D1" presStyleIdx="0" presStyleCnt="8"/>
      <dgm:spPr/>
    </dgm:pt>
    <dgm:pt modelId="{768BB6FA-7F57-244A-AC25-6F14EC00E780}" type="pres">
      <dgm:prSet presAssocID="{F83FBD71-47F0-144D-9527-D9929986E13E}" presName="node" presStyleLbl="node1" presStyleIdx="1" presStyleCnt="9">
        <dgm:presLayoutVars>
          <dgm:bulletEnabled val="1"/>
        </dgm:presLayoutVars>
      </dgm:prSet>
      <dgm:spPr/>
    </dgm:pt>
    <dgm:pt modelId="{A13F6855-E779-F14A-9992-CF839145CD39}" type="pres">
      <dgm:prSet presAssocID="{54C61590-E056-9245-8161-6E3FE82799B1}" presName="sibTrans" presStyleLbl="sibTrans1D1" presStyleIdx="1" presStyleCnt="8"/>
      <dgm:spPr/>
    </dgm:pt>
    <dgm:pt modelId="{03EED392-3C82-8F4B-B9FD-0C5A4FF021E4}" type="pres">
      <dgm:prSet presAssocID="{54C61590-E056-9245-8161-6E3FE82799B1}" presName="connectorText" presStyleLbl="sibTrans1D1" presStyleIdx="1" presStyleCnt="8"/>
      <dgm:spPr/>
    </dgm:pt>
    <dgm:pt modelId="{ADE90B46-FBE5-4440-B907-4D5BB1E500B3}" type="pres">
      <dgm:prSet presAssocID="{F9BE5C76-4BDE-F44F-9AD0-DC45C18AA58B}" presName="node" presStyleLbl="node1" presStyleIdx="2" presStyleCnt="9">
        <dgm:presLayoutVars>
          <dgm:bulletEnabled val="1"/>
        </dgm:presLayoutVars>
      </dgm:prSet>
      <dgm:spPr/>
    </dgm:pt>
    <dgm:pt modelId="{868C9387-B7F3-AC4A-98AC-DDB1D7408283}" type="pres">
      <dgm:prSet presAssocID="{EAB0DDFA-B3D8-F443-A4FD-EFCD897420A2}" presName="sibTrans" presStyleLbl="sibTrans1D1" presStyleIdx="2" presStyleCnt="8"/>
      <dgm:spPr/>
    </dgm:pt>
    <dgm:pt modelId="{962E9C6F-70E6-6143-B447-87276F99C6E0}" type="pres">
      <dgm:prSet presAssocID="{EAB0DDFA-B3D8-F443-A4FD-EFCD897420A2}" presName="connectorText" presStyleLbl="sibTrans1D1" presStyleIdx="2" presStyleCnt="8"/>
      <dgm:spPr/>
    </dgm:pt>
    <dgm:pt modelId="{ABDF0920-D3A4-594C-8039-12AB659320AC}" type="pres">
      <dgm:prSet presAssocID="{767FF3EA-FB46-4249-A9BD-015B8E56E552}" presName="node" presStyleLbl="node1" presStyleIdx="3" presStyleCnt="9">
        <dgm:presLayoutVars>
          <dgm:bulletEnabled val="1"/>
        </dgm:presLayoutVars>
      </dgm:prSet>
      <dgm:spPr/>
    </dgm:pt>
    <dgm:pt modelId="{9EA949D6-435A-2948-B632-62E47019631E}" type="pres">
      <dgm:prSet presAssocID="{647F0353-CDFC-FF40-8E0A-317DB9C630FE}" presName="sibTrans" presStyleLbl="sibTrans1D1" presStyleIdx="3" presStyleCnt="8"/>
      <dgm:spPr/>
    </dgm:pt>
    <dgm:pt modelId="{7E525160-EE88-5242-A29E-3EE40E50D570}" type="pres">
      <dgm:prSet presAssocID="{647F0353-CDFC-FF40-8E0A-317DB9C630FE}" presName="connectorText" presStyleLbl="sibTrans1D1" presStyleIdx="3" presStyleCnt="8"/>
      <dgm:spPr/>
    </dgm:pt>
    <dgm:pt modelId="{F730BE23-294D-474D-AAFB-C3D33F3A0DE6}" type="pres">
      <dgm:prSet presAssocID="{22CC63E6-4289-E144-BDA8-9636FBB2ECA8}" presName="node" presStyleLbl="node1" presStyleIdx="4" presStyleCnt="9">
        <dgm:presLayoutVars>
          <dgm:bulletEnabled val="1"/>
        </dgm:presLayoutVars>
      </dgm:prSet>
      <dgm:spPr/>
    </dgm:pt>
    <dgm:pt modelId="{556C6619-2BD4-F344-BCF6-EE7CF9488FA2}" type="pres">
      <dgm:prSet presAssocID="{F1FB9C78-97B0-DF47-B904-B43007789B09}" presName="sibTrans" presStyleLbl="sibTrans1D1" presStyleIdx="4" presStyleCnt="8"/>
      <dgm:spPr/>
    </dgm:pt>
    <dgm:pt modelId="{F7CF2E51-92A8-BE49-B733-9D6F32F475E7}" type="pres">
      <dgm:prSet presAssocID="{F1FB9C78-97B0-DF47-B904-B43007789B09}" presName="connectorText" presStyleLbl="sibTrans1D1" presStyleIdx="4" presStyleCnt="8"/>
      <dgm:spPr/>
    </dgm:pt>
    <dgm:pt modelId="{4255925C-7AE8-1743-B715-8EE5CC87F6CE}" type="pres">
      <dgm:prSet presAssocID="{8186E41F-EEC5-3143-A8FE-FE2D895D9CB8}" presName="node" presStyleLbl="node1" presStyleIdx="5" presStyleCnt="9" custLinFactNeighborX="3719" custLinFactNeighborY="-620">
        <dgm:presLayoutVars>
          <dgm:bulletEnabled val="1"/>
        </dgm:presLayoutVars>
      </dgm:prSet>
      <dgm:spPr/>
    </dgm:pt>
    <dgm:pt modelId="{FABDF8E2-5CAB-7D4D-B5D6-D12AA916398A}" type="pres">
      <dgm:prSet presAssocID="{BDF8BE6C-E9F7-A843-BDC0-401E4E6FA484}" presName="sibTrans" presStyleLbl="sibTrans1D1" presStyleIdx="5" presStyleCnt="8"/>
      <dgm:spPr/>
    </dgm:pt>
    <dgm:pt modelId="{BF82627B-83D3-FC47-9CDC-E93EECED4429}" type="pres">
      <dgm:prSet presAssocID="{BDF8BE6C-E9F7-A843-BDC0-401E4E6FA484}" presName="connectorText" presStyleLbl="sibTrans1D1" presStyleIdx="5" presStyleCnt="8"/>
      <dgm:spPr/>
    </dgm:pt>
    <dgm:pt modelId="{A35F773E-7D0A-7A45-AE41-4055FBE2462C}" type="pres">
      <dgm:prSet presAssocID="{2D5C3820-4477-3342-A4E3-4DD56068002E}" presName="node" presStyleLbl="node1" presStyleIdx="6" presStyleCnt="9">
        <dgm:presLayoutVars>
          <dgm:bulletEnabled val="1"/>
        </dgm:presLayoutVars>
      </dgm:prSet>
      <dgm:spPr/>
    </dgm:pt>
    <dgm:pt modelId="{324A1061-3BFA-A344-8A4D-23B904655EF5}" type="pres">
      <dgm:prSet presAssocID="{E5594B21-F38C-734E-A07C-A8A8639434E8}" presName="sibTrans" presStyleLbl="sibTrans1D1" presStyleIdx="6" presStyleCnt="8"/>
      <dgm:spPr/>
    </dgm:pt>
    <dgm:pt modelId="{98337697-36F2-2F49-88AA-30CEFC5C2698}" type="pres">
      <dgm:prSet presAssocID="{E5594B21-F38C-734E-A07C-A8A8639434E8}" presName="connectorText" presStyleLbl="sibTrans1D1" presStyleIdx="6" presStyleCnt="8"/>
      <dgm:spPr/>
    </dgm:pt>
    <dgm:pt modelId="{85E3BF24-C26B-484C-84FE-67C8E3FE10B2}" type="pres">
      <dgm:prSet presAssocID="{373A25F7-468A-384E-ADEB-9810A3381D3E}" presName="node" presStyleLbl="node1" presStyleIdx="7" presStyleCnt="9">
        <dgm:presLayoutVars>
          <dgm:bulletEnabled val="1"/>
        </dgm:presLayoutVars>
      </dgm:prSet>
      <dgm:spPr/>
    </dgm:pt>
    <dgm:pt modelId="{E99F82BD-8E08-CE4E-9802-703945B325FB}" type="pres">
      <dgm:prSet presAssocID="{B5C024E7-8001-7F47-A1CF-C82632C4BE26}" presName="sibTrans" presStyleLbl="sibTrans1D1" presStyleIdx="7" presStyleCnt="8"/>
      <dgm:spPr/>
    </dgm:pt>
    <dgm:pt modelId="{381321A0-2167-C54E-847E-A9D40CD19CA7}" type="pres">
      <dgm:prSet presAssocID="{B5C024E7-8001-7F47-A1CF-C82632C4BE26}" presName="connectorText" presStyleLbl="sibTrans1D1" presStyleIdx="7" presStyleCnt="8"/>
      <dgm:spPr/>
    </dgm:pt>
    <dgm:pt modelId="{59F6B351-4F55-104D-896D-FC4DB6185408}" type="pres">
      <dgm:prSet presAssocID="{83B46192-CC01-9B45-BA46-19B4C9BC5DD0}" presName="node" presStyleLbl="node1" presStyleIdx="8" presStyleCnt="9">
        <dgm:presLayoutVars>
          <dgm:bulletEnabled val="1"/>
        </dgm:presLayoutVars>
      </dgm:prSet>
      <dgm:spPr/>
    </dgm:pt>
  </dgm:ptLst>
  <dgm:cxnLst>
    <dgm:cxn modelId="{32042E04-B9E9-3449-A7A1-C2E0017F1B2C}" type="presOf" srcId="{28B446F2-F69D-3441-9994-E2A022A0AF1D}" destId="{11F0A2D3-153B-C54B-9933-8B07E1F5EBEE}" srcOrd="0" destOrd="0" presId="urn:microsoft.com/office/officeart/2005/8/layout/bProcess3"/>
    <dgm:cxn modelId="{7418B705-E79A-5443-8ED5-BFE63E301A1C}" type="presOf" srcId="{22CC63E6-4289-E144-BDA8-9636FBB2ECA8}" destId="{F730BE23-294D-474D-AAFB-C3D33F3A0DE6}" srcOrd="0" destOrd="0" presId="urn:microsoft.com/office/officeart/2005/8/layout/bProcess3"/>
    <dgm:cxn modelId="{2C682E09-27A1-9347-832C-A92A26815CAE}" type="presOf" srcId="{54C61590-E056-9245-8161-6E3FE82799B1}" destId="{A13F6855-E779-F14A-9992-CF839145CD39}" srcOrd="0" destOrd="0" presId="urn:microsoft.com/office/officeart/2005/8/layout/bProcess3"/>
    <dgm:cxn modelId="{D402C221-105A-F64D-B3B0-8A3F31D0F82F}" srcId="{D839A446-48BE-774C-9445-E989809F45C4}" destId="{373A25F7-468A-384E-ADEB-9810A3381D3E}" srcOrd="7" destOrd="0" parTransId="{C7A0C0DF-50C6-BA42-B632-DD78984272A4}" sibTransId="{B5C024E7-8001-7F47-A1CF-C82632C4BE26}"/>
    <dgm:cxn modelId="{6F02D324-AE0F-8B43-AD75-6CCB702D0A06}" type="presOf" srcId="{D839A446-48BE-774C-9445-E989809F45C4}" destId="{D189D7DE-7FC0-DB42-8DBA-0BCB7B89CAB0}" srcOrd="0" destOrd="0" presId="urn:microsoft.com/office/officeart/2005/8/layout/bProcess3"/>
    <dgm:cxn modelId="{1840B225-A16C-DC42-BC1F-55C17BDA7E3B}" type="presOf" srcId="{E5594B21-F38C-734E-A07C-A8A8639434E8}" destId="{98337697-36F2-2F49-88AA-30CEFC5C2698}" srcOrd="1" destOrd="0" presId="urn:microsoft.com/office/officeart/2005/8/layout/bProcess3"/>
    <dgm:cxn modelId="{85CF8726-D8FB-A34E-9CE1-A84E27398639}" type="presOf" srcId="{373A25F7-468A-384E-ADEB-9810A3381D3E}" destId="{85E3BF24-C26B-484C-84FE-67C8E3FE10B2}" srcOrd="0" destOrd="0" presId="urn:microsoft.com/office/officeart/2005/8/layout/bProcess3"/>
    <dgm:cxn modelId="{9FF06F28-9B30-EC44-9EF2-F5CE4FBC24E4}" type="presOf" srcId="{54C61590-E056-9245-8161-6E3FE82799B1}" destId="{03EED392-3C82-8F4B-B9FD-0C5A4FF021E4}" srcOrd="1" destOrd="0" presId="urn:microsoft.com/office/officeart/2005/8/layout/bProcess3"/>
    <dgm:cxn modelId="{AA066036-C6D1-5C42-9C58-E4713F9C8E95}" type="presOf" srcId="{EAB0DDFA-B3D8-F443-A4FD-EFCD897420A2}" destId="{962E9C6F-70E6-6143-B447-87276F99C6E0}" srcOrd="1" destOrd="0" presId="urn:microsoft.com/office/officeart/2005/8/layout/bProcess3"/>
    <dgm:cxn modelId="{AAB9253E-5710-E943-B3A0-497B62B00A92}" srcId="{D839A446-48BE-774C-9445-E989809F45C4}" destId="{F9BE5C76-4BDE-F44F-9AD0-DC45C18AA58B}" srcOrd="2" destOrd="0" parTransId="{6433C981-6B76-A342-AFEB-ADCCA0F19CC5}" sibTransId="{EAB0DDFA-B3D8-F443-A4FD-EFCD897420A2}"/>
    <dgm:cxn modelId="{E7717845-2748-D342-8F1D-8925634FA72B}" srcId="{D839A446-48BE-774C-9445-E989809F45C4}" destId="{22CC63E6-4289-E144-BDA8-9636FBB2ECA8}" srcOrd="4" destOrd="0" parTransId="{F30FF56A-5181-674C-BF93-82283C49B288}" sibTransId="{F1FB9C78-97B0-DF47-B904-B43007789B09}"/>
    <dgm:cxn modelId="{09CEE64B-BF04-3F4E-9537-AD710208FA1C}" srcId="{D839A446-48BE-774C-9445-E989809F45C4}" destId="{83B46192-CC01-9B45-BA46-19B4C9BC5DD0}" srcOrd="8" destOrd="0" parTransId="{3E818951-E054-CD45-9D3F-060CC1EB3694}" sibTransId="{9EE881A6-28F5-D24D-8F5D-E7CC420A0CB9}"/>
    <dgm:cxn modelId="{43C29366-1CEF-B543-B528-6BE615A5B396}" type="presOf" srcId="{F1FB9C78-97B0-DF47-B904-B43007789B09}" destId="{F7CF2E51-92A8-BE49-B733-9D6F32F475E7}" srcOrd="1" destOrd="0" presId="urn:microsoft.com/office/officeart/2005/8/layout/bProcess3"/>
    <dgm:cxn modelId="{818DF066-D7F8-2A4E-82B4-99E8108C2DA1}" type="presOf" srcId="{BDF8BE6C-E9F7-A843-BDC0-401E4E6FA484}" destId="{FABDF8E2-5CAB-7D4D-B5D6-D12AA916398A}" srcOrd="0" destOrd="0" presId="urn:microsoft.com/office/officeart/2005/8/layout/bProcess3"/>
    <dgm:cxn modelId="{3FE49A67-3966-1040-ACA8-2CF21DC3D1C1}" type="presOf" srcId="{83B46192-CC01-9B45-BA46-19B4C9BC5DD0}" destId="{59F6B351-4F55-104D-896D-FC4DB6185408}" srcOrd="0" destOrd="0" presId="urn:microsoft.com/office/officeart/2005/8/layout/bProcess3"/>
    <dgm:cxn modelId="{3FC4A86D-741C-EB42-9504-BD1BDF8CF0F0}" srcId="{D839A446-48BE-774C-9445-E989809F45C4}" destId="{28B446F2-F69D-3441-9994-E2A022A0AF1D}" srcOrd="0" destOrd="0" parTransId="{441A25B4-A83B-7A4C-9076-1AEA57E727EC}" sibTransId="{35D28C18-8914-BF45-8DE6-5FFC3DCABAC7}"/>
    <dgm:cxn modelId="{00CD5574-CC50-0C44-A53B-A649A6EBEE62}" type="presOf" srcId="{E5594B21-F38C-734E-A07C-A8A8639434E8}" destId="{324A1061-3BFA-A344-8A4D-23B904655EF5}" srcOrd="0" destOrd="0" presId="urn:microsoft.com/office/officeart/2005/8/layout/bProcess3"/>
    <dgm:cxn modelId="{8B808274-1FC6-DD4E-8FE9-24DD02A40467}" type="presOf" srcId="{F83FBD71-47F0-144D-9527-D9929986E13E}" destId="{768BB6FA-7F57-244A-AC25-6F14EC00E780}" srcOrd="0" destOrd="0" presId="urn:microsoft.com/office/officeart/2005/8/layout/bProcess3"/>
    <dgm:cxn modelId="{0523597B-8080-C046-8D1E-BC8EE483D507}" srcId="{D839A446-48BE-774C-9445-E989809F45C4}" destId="{2D5C3820-4477-3342-A4E3-4DD56068002E}" srcOrd="6" destOrd="0" parTransId="{58976FAF-13DC-4146-8C4E-359B3F62E9CE}" sibTransId="{E5594B21-F38C-734E-A07C-A8A8639434E8}"/>
    <dgm:cxn modelId="{BCC99087-3A9C-3343-8077-2BFBFC73BA4A}" srcId="{D839A446-48BE-774C-9445-E989809F45C4}" destId="{767FF3EA-FB46-4249-A9BD-015B8E56E552}" srcOrd="3" destOrd="0" parTransId="{BC062544-DB25-4049-836F-AE29D543037F}" sibTransId="{647F0353-CDFC-FF40-8E0A-317DB9C630FE}"/>
    <dgm:cxn modelId="{D0EAC290-6F3A-CF48-B93F-9C8816FCB612}" type="presOf" srcId="{F9BE5C76-4BDE-F44F-9AD0-DC45C18AA58B}" destId="{ADE90B46-FBE5-4440-B907-4D5BB1E500B3}" srcOrd="0" destOrd="0" presId="urn:microsoft.com/office/officeart/2005/8/layout/bProcess3"/>
    <dgm:cxn modelId="{5F0735AC-5726-4849-BE0D-554BB1EFABD0}" type="presOf" srcId="{2D5C3820-4477-3342-A4E3-4DD56068002E}" destId="{A35F773E-7D0A-7A45-AE41-4055FBE2462C}" srcOrd="0" destOrd="0" presId="urn:microsoft.com/office/officeart/2005/8/layout/bProcess3"/>
    <dgm:cxn modelId="{81B723C0-4A6F-E14A-90A9-744EC0FED490}" type="presOf" srcId="{35D28C18-8914-BF45-8DE6-5FFC3DCABAC7}" destId="{D1C55B21-4939-C84E-BF74-7D29DEA1B2E4}" srcOrd="1" destOrd="0" presId="urn:microsoft.com/office/officeart/2005/8/layout/bProcess3"/>
    <dgm:cxn modelId="{76E8EFC3-F6B3-A74C-A2B1-D4D0D998DFF3}" type="presOf" srcId="{B5C024E7-8001-7F47-A1CF-C82632C4BE26}" destId="{E99F82BD-8E08-CE4E-9802-703945B325FB}" srcOrd="0" destOrd="0" presId="urn:microsoft.com/office/officeart/2005/8/layout/bProcess3"/>
    <dgm:cxn modelId="{6EF137C9-4EB2-F54A-BF1C-73F953557273}" type="presOf" srcId="{767FF3EA-FB46-4249-A9BD-015B8E56E552}" destId="{ABDF0920-D3A4-594C-8039-12AB659320AC}" srcOrd="0" destOrd="0" presId="urn:microsoft.com/office/officeart/2005/8/layout/bProcess3"/>
    <dgm:cxn modelId="{F27B42CD-A975-CC48-BD36-DE406EE406D4}" type="presOf" srcId="{35D28C18-8914-BF45-8DE6-5FFC3DCABAC7}" destId="{FE850577-1847-1449-A6ED-E79368D9CA22}" srcOrd="0" destOrd="0" presId="urn:microsoft.com/office/officeart/2005/8/layout/bProcess3"/>
    <dgm:cxn modelId="{8A0760CD-AEFF-354B-9572-045F2C87373E}" type="presOf" srcId="{647F0353-CDFC-FF40-8E0A-317DB9C630FE}" destId="{9EA949D6-435A-2948-B632-62E47019631E}" srcOrd="0" destOrd="0" presId="urn:microsoft.com/office/officeart/2005/8/layout/bProcess3"/>
    <dgm:cxn modelId="{49C716D0-A541-5447-BC3F-3DA0630F3361}" type="presOf" srcId="{647F0353-CDFC-FF40-8E0A-317DB9C630FE}" destId="{7E525160-EE88-5242-A29E-3EE40E50D570}" srcOrd="1" destOrd="0" presId="urn:microsoft.com/office/officeart/2005/8/layout/bProcess3"/>
    <dgm:cxn modelId="{39A250D0-97FF-B843-B636-9E214504B77D}" type="presOf" srcId="{BDF8BE6C-E9F7-A843-BDC0-401E4E6FA484}" destId="{BF82627B-83D3-FC47-9CDC-E93EECED4429}" srcOrd="1" destOrd="0" presId="urn:microsoft.com/office/officeart/2005/8/layout/bProcess3"/>
    <dgm:cxn modelId="{EC3B96D1-A501-A74A-B6EB-EC6F815F2CC7}" type="presOf" srcId="{B5C024E7-8001-7F47-A1CF-C82632C4BE26}" destId="{381321A0-2167-C54E-847E-A9D40CD19CA7}" srcOrd="1" destOrd="0" presId="urn:microsoft.com/office/officeart/2005/8/layout/bProcess3"/>
    <dgm:cxn modelId="{98C6D2D9-8DEA-7A4D-AA7A-BE5B67663AD2}" type="presOf" srcId="{F1FB9C78-97B0-DF47-B904-B43007789B09}" destId="{556C6619-2BD4-F344-BCF6-EE7CF9488FA2}" srcOrd="0" destOrd="0" presId="urn:microsoft.com/office/officeart/2005/8/layout/bProcess3"/>
    <dgm:cxn modelId="{936CB5E1-0D67-2D40-818A-CC26626FC5AF}" type="presOf" srcId="{8186E41F-EEC5-3143-A8FE-FE2D895D9CB8}" destId="{4255925C-7AE8-1743-B715-8EE5CC87F6CE}" srcOrd="0" destOrd="0" presId="urn:microsoft.com/office/officeart/2005/8/layout/bProcess3"/>
    <dgm:cxn modelId="{F7A565E9-E696-3741-9193-1243B6A9C025}" srcId="{D839A446-48BE-774C-9445-E989809F45C4}" destId="{F83FBD71-47F0-144D-9527-D9929986E13E}" srcOrd="1" destOrd="0" parTransId="{23D81188-2A02-0949-B3AF-F2A70C2CDDEC}" sibTransId="{54C61590-E056-9245-8161-6E3FE82799B1}"/>
    <dgm:cxn modelId="{AC4C7CF8-AD5E-FE4B-9BEB-5B94DB938F0B}" srcId="{D839A446-48BE-774C-9445-E989809F45C4}" destId="{8186E41F-EEC5-3143-A8FE-FE2D895D9CB8}" srcOrd="5" destOrd="0" parTransId="{7D42A449-FF14-9144-AFE0-187AABC31160}" sibTransId="{BDF8BE6C-E9F7-A843-BDC0-401E4E6FA484}"/>
    <dgm:cxn modelId="{695C2BF9-D1FC-6B4B-B8C2-3E8DE8A03218}" type="presOf" srcId="{EAB0DDFA-B3D8-F443-A4FD-EFCD897420A2}" destId="{868C9387-B7F3-AC4A-98AC-DDB1D7408283}" srcOrd="0" destOrd="0" presId="urn:microsoft.com/office/officeart/2005/8/layout/bProcess3"/>
    <dgm:cxn modelId="{10A321BD-1EA2-5B4B-98BF-794B7264FD32}" type="presParOf" srcId="{D189D7DE-7FC0-DB42-8DBA-0BCB7B89CAB0}" destId="{11F0A2D3-153B-C54B-9933-8B07E1F5EBEE}" srcOrd="0" destOrd="0" presId="urn:microsoft.com/office/officeart/2005/8/layout/bProcess3"/>
    <dgm:cxn modelId="{9E66670E-532B-B54B-B213-9F6DD4B17A90}" type="presParOf" srcId="{D189D7DE-7FC0-DB42-8DBA-0BCB7B89CAB0}" destId="{FE850577-1847-1449-A6ED-E79368D9CA22}" srcOrd="1" destOrd="0" presId="urn:microsoft.com/office/officeart/2005/8/layout/bProcess3"/>
    <dgm:cxn modelId="{5E6DF2EA-F10A-E543-A2B0-8C2D69C5F0A5}" type="presParOf" srcId="{FE850577-1847-1449-A6ED-E79368D9CA22}" destId="{D1C55B21-4939-C84E-BF74-7D29DEA1B2E4}" srcOrd="0" destOrd="0" presId="urn:microsoft.com/office/officeart/2005/8/layout/bProcess3"/>
    <dgm:cxn modelId="{F9D84A07-1F69-474F-9064-F14AAC020A5D}" type="presParOf" srcId="{D189D7DE-7FC0-DB42-8DBA-0BCB7B89CAB0}" destId="{768BB6FA-7F57-244A-AC25-6F14EC00E780}" srcOrd="2" destOrd="0" presId="urn:microsoft.com/office/officeart/2005/8/layout/bProcess3"/>
    <dgm:cxn modelId="{40134CED-A54A-0D4C-8481-ECEE953771A0}" type="presParOf" srcId="{D189D7DE-7FC0-DB42-8DBA-0BCB7B89CAB0}" destId="{A13F6855-E779-F14A-9992-CF839145CD39}" srcOrd="3" destOrd="0" presId="urn:microsoft.com/office/officeart/2005/8/layout/bProcess3"/>
    <dgm:cxn modelId="{3F8835A8-04C2-A94D-B232-870DB55C2F70}" type="presParOf" srcId="{A13F6855-E779-F14A-9992-CF839145CD39}" destId="{03EED392-3C82-8F4B-B9FD-0C5A4FF021E4}" srcOrd="0" destOrd="0" presId="urn:microsoft.com/office/officeart/2005/8/layout/bProcess3"/>
    <dgm:cxn modelId="{9B909DB3-1237-CA47-A5C1-3BDDAF7B1BF7}" type="presParOf" srcId="{D189D7DE-7FC0-DB42-8DBA-0BCB7B89CAB0}" destId="{ADE90B46-FBE5-4440-B907-4D5BB1E500B3}" srcOrd="4" destOrd="0" presId="urn:microsoft.com/office/officeart/2005/8/layout/bProcess3"/>
    <dgm:cxn modelId="{2EB63178-3078-AF41-AFEE-2E1FDEA928AC}" type="presParOf" srcId="{D189D7DE-7FC0-DB42-8DBA-0BCB7B89CAB0}" destId="{868C9387-B7F3-AC4A-98AC-DDB1D7408283}" srcOrd="5" destOrd="0" presId="urn:microsoft.com/office/officeart/2005/8/layout/bProcess3"/>
    <dgm:cxn modelId="{CB0DFC7F-FC3E-704E-A052-00F4C01728FC}" type="presParOf" srcId="{868C9387-B7F3-AC4A-98AC-DDB1D7408283}" destId="{962E9C6F-70E6-6143-B447-87276F99C6E0}" srcOrd="0" destOrd="0" presId="urn:microsoft.com/office/officeart/2005/8/layout/bProcess3"/>
    <dgm:cxn modelId="{6919DD70-612C-594E-900E-6094997F2F78}" type="presParOf" srcId="{D189D7DE-7FC0-DB42-8DBA-0BCB7B89CAB0}" destId="{ABDF0920-D3A4-594C-8039-12AB659320AC}" srcOrd="6" destOrd="0" presId="urn:microsoft.com/office/officeart/2005/8/layout/bProcess3"/>
    <dgm:cxn modelId="{9E8384F3-7042-2B41-8810-BF2BB3476303}" type="presParOf" srcId="{D189D7DE-7FC0-DB42-8DBA-0BCB7B89CAB0}" destId="{9EA949D6-435A-2948-B632-62E47019631E}" srcOrd="7" destOrd="0" presId="urn:microsoft.com/office/officeart/2005/8/layout/bProcess3"/>
    <dgm:cxn modelId="{C58380A2-7D9A-4041-8A63-A9A50C030038}" type="presParOf" srcId="{9EA949D6-435A-2948-B632-62E47019631E}" destId="{7E525160-EE88-5242-A29E-3EE40E50D570}" srcOrd="0" destOrd="0" presId="urn:microsoft.com/office/officeart/2005/8/layout/bProcess3"/>
    <dgm:cxn modelId="{D5CB8C83-6CB7-F648-ABF1-BFC9BE87A2E7}" type="presParOf" srcId="{D189D7DE-7FC0-DB42-8DBA-0BCB7B89CAB0}" destId="{F730BE23-294D-474D-AAFB-C3D33F3A0DE6}" srcOrd="8" destOrd="0" presId="urn:microsoft.com/office/officeart/2005/8/layout/bProcess3"/>
    <dgm:cxn modelId="{FCB40FCD-8B11-E448-B98A-8C723C47DA1D}" type="presParOf" srcId="{D189D7DE-7FC0-DB42-8DBA-0BCB7B89CAB0}" destId="{556C6619-2BD4-F344-BCF6-EE7CF9488FA2}" srcOrd="9" destOrd="0" presId="urn:microsoft.com/office/officeart/2005/8/layout/bProcess3"/>
    <dgm:cxn modelId="{B3CCD6C3-BF35-194C-BEB5-DE3324A74AAB}" type="presParOf" srcId="{556C6619-2BD4-F344-BCF6-EE7CF9488FA2}" destId="{F7CF2E51-92A8-BE49-B733-9D6F32F475E7}" srcOrd="0" destOrd="0" presId="urn:microsoft.com/office/officeart/2005/8/layout/bProcess3"/>
    <dgm:cxn modelId="{7B666A89-4466-0744-93B4-A19694C94F49}" type="presParOf" srcId="{D189D7DE-7FC0-DB42-8DBA-0BCB7B89CAB0}" destId="{4255925C-7AE8-1743-B715-8EE5CC87F6CE}" srcOrd="10" destOrd="0" presId="urn:microsoft.com/office/officeart/2005/8/layout/bProcess3"/>
    <dgm:cxn modelId="{4116FB0A-21F0-A04E-AC3F-6EDA4CAEE27F}" type="presParOf" srcId="{D189D7DE-7FC0-DB42-8DBA-0BCB7B89CAB0}" destId="{FABDF8E2-5CAB-7D4D-B5D6-D12AA916398A}" srcOrd="11" destOrd="0" presId="urn:microsoft.com/office/officeart/2005/8/layout/bProcess3"/>
    <dgm:cxn modelId="{5E49DA25-84AB-B74C-BA91-7921A56F4BEC}" type="presParOf" srcId="{FABDF8E2-5CAB-7D4D-B5D6-D12AA916398A}" destId="{BF82627B-83D3-FC47-9CDC-E93EECED4429}" srcOrd="0" destOrd="0" presId="urn:microsoft.com/office/officeart/2005/8/layout/bProcess3"/>
    <dgm:cxn modelId="{63A7DD18-6C74-6141-BD26-5F6B2E5555B7}" type="presParOf" srcId="{D189D7DE-7FC0-DB42-8DBA-0BCB7B89CAB0}" destId="{A35F773E-7D0A-7A45-AE41-4055FBE2462C}" srcOrd="12" destOrd="0" presId="urn:microsoft.com/office/officeart/2005/8/layout/bProcess3"/>
    <dgm:cxn modelId="{174F2164-F0F7-644C-8C4E-4C8D83E66CD3}" type="presParOf" srcId="{D189D7DE-7FC0-DB42-8DBA-0BCB7B89CAB0}" destId="{324A1061-3BFA-A344-8A4D-23B904655EF5}" srcOrd="13" destOrd="0" presId="urn:microsoft.com/office/officeart/2005/8/layout/bProcess3"/>
    <dgm:cxn modelId="{E1A25AF4-16FB-6140-BCB4-D729E35987BD}" type="presParOf" srcId="{324A1061-3BFA-A344-8A4D-23B904655EF5}" destId="{98337697-36F2-2F49-88AA-30CEFC5C2698}" srcOrd="0" destOrd="0" presId="urn:microsoft.com/office/officeart/2005/8/layout/bProcess3"/>
    <dgm:cxn modelId="{59F8699C-BE25-2C4F-83AE-092178D9F064}" type="presParOf" srcId="{D189D7DE-7FC0-DB42-8DBA-0BCB7B89CAB0}" destId="{85E3BF24-C26B-484C-84FE-67C8E3FE10B2}" srcOrd="14" destOrd="0" presId="urn:microsoft.com/office/officeart/2005/8/layout/bProcess3"/>
    <dgm:cxn modelId="{6C3DC277-985C-2D4E-80B8-86AD384CCCC8}" type="presParOf" srcId="{D189D7DE-7FC0-DB42-8DBA-0BCB7B89CAB0}" destId="{E99F82BD-8E08-CE4E-9802-703945B325FB}" srcOrd="15" destOrd="0" presId="urn:microsoft.com/office/officeart/2005/8/layout/bProcess3"/>
    <dgm:cxn modelId="{DFA07AD6-BDDD-2349-A4BF-12DBC2D3F1C3}" type="presParOf" srcId="{E99F82BD-8E08-CE4E-9802-703945B325FB}" destId="{381321A0-2167-C54E-847E-A9D40CD19CA7}" srcOrd="0" destOrd="0" presId="urn:microsoft.com/office/officeart/2005/8/layout/bProcess3"/>
    <dgm:cxn modelId="{F55630EF-7630-BD41-95E2-29E1379F8CA7}" type="presParOf" srcId="{D189D7DE-7FC0-DB42-8DBA-0BCB7B89CAB0}" destId="{59F6B351-4F55-104D-896D-FC4DB6185408}" srcOrd="16" destOrd="0" presId="urn:microsoft.com/office/officeart/2005/8/layout/bProcess3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E850577-1847-1449-A6ED-E79368D9CA22}">
      <dsp:nvSpPr>
        <dsp:cNvPr id="0" name=""/>
        <dsp:cNvSpPr/>
      </dsp:nvSpPr>
      <dsp:spPr>
        <a:xfrm>
          <a:off x="2940670" y="526382"/>
          <a:ext cx="407996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407996" y="45720"/>
              </a:lnTo>
            </a:path>
          </a:pathLst>
        </a:custGeom>
        <a:noFill/>
        <a:ln w="635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>
            <a:solidFill>
              <a:schemeClr val="lt1"/>
            </a:solidFill>
          </a:endParaRPr>
        </a:p>
      </dsp:txBody>
      <dsp:txXfrm>
        <a:off x="3133704" y="569909"/>
        <a:ext cx="21929" cy="4385"/>
      </dsp:txXfrm>
    </dsp:sp>
    <dsp:sp modelId="{11F0A2D3-153B-C54B-9933-8B07E1F5EBEE}">
      <dsp:nvSpPr>
        <dsp:cNvPr id="0" name=""/>
        <dsp:cNvSpPr/>
      </dsp:nvSpPr>
      <dsp:spPr>
        <a:xfrm>
          <a:off x="1035527" y="19"/>
          <a:ext cx="1906943" cy="1144166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568" tIns="99568" rIns="99568" bIns="99568" numCol="1" spcCol="1270" anchor="t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>
              <a:solidFill>
                <a:schemeClr val="lt1"/>
              </a:solidFill>
            </a:rPr>
            <a:t>Use Company Research to determine most like Domain Knowledge Templates</a:t>
          </a:r>
        </a:p>
      </dsp:txBody>
      <dsp:txXfrm>
        <a:off x="1035527" y="19"/>
        <a:ext cx="1906943" cy="1144166"/>
      </dsp:txXfrm>
    </dsp:sp>
    <dsp:sp modelId="{A13F6855-E779-F14A-9992-CF839145CD39}">
      <dsp:nvSpPr>
        <dsp:cNvPr id="0" name=""/>
        <dsp:cNvSpPr/>
      </dsp:nvSpPr>
      <dsp:spPr>
        <a:xfrm>
          <a:off x="5286211" y="526382"/>
          <a:ext cx="407996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407996" y="45720"/>
              </a:lnTo>
            </a:path>
          </a:pathLst>
        </a:custGeom>
        <a:noFill/>
        <a:ln w="635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>
            <a:solidFill>
              <a:schemeClr val="lt1"/>
            </a:solidFill>
          </a:endParaRPr>
        </a:p>
      </dsp:txBody>
      <dsp:txXfrm>
        <a:off x="5479244" y="569909"/>
        <a:ext cx="21929" cy="4385"/>
      </dsp:txXfrm>
    </dsp:sp>
    <dsp:sp modelId="{768BB6FA-7F57-244A-AC25-6F14EC00E780}">
      <dsp:nvSpPr>
        <dsp:cNvPr id="0" name=""/>
        <dsp:cNvSpPr/>
      </dsp:nvSpPr>
      <dsp:spPr>
        <a:xfrm>
          <a:off x="3381067" y="19"/>
          <a:ext cx="1906943" cy="1144166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568" tIns="99568" rIns="99568" bIns="99568" numCol="1" spcCol="1270" anchor="t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>
              <a:solidFill>
                <a:schemeClr val="lt1"/>
              </a:solidFill>
            </a:rPr>
            <a:t>Decompose the Ask</a:t>
          </a:r>
        </a:p>
      </dsp:txBody>
      <dsp:txXfrm>
        <a:off x="3381067" y="19"/>
        <a:ext cx="1906943" cy="1144166"/>
      </dsp:txXfrm>
    </dsp:sp>
    <dsp:sp modelId="{868C9387-B7F3-AC4A-98AC-DDB1D7408283}">
      <dsp:nvSpPr>
        <dsp:cNvPr id="0" name=""/>
        <dsp:cNvSpPr/>
      </dsp:nvSpPr>
      <dsp:spPr>
        <a:xfrm>
          <a:off x="1988999" y="1142385"/>
          <a:ext cx="4691080" cy="407996"/>
        </a:xfrm>
        <a:custGeom>
          <a:avLst/>
          <a:gdLst/>
          <a:ahLst/>
          <a:cxnLst/>
          <a:rect l="0" t="0" r="0" b="0"/>
          <a:pathLst>
            <a:path>
              <a:moveTo>
                <a:pt x="4691080" y="0"/>
              </a:moveTo>
              <a:lnTo>
                <a:pt x="4691080" y="221098"/>
              </a:lnTo>
              <a:lnTo>
                <a:pt x="0" y="221098"/>
              </a:lnTo>
              <a:lnTo>
                <a:pt x="0" y="407996"/>
              </a:lnTo>
            </a:path>
          </a:pathLst>
        </a:custGeom>
        <a:noFill/>
        <a:ln w="635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>
            <a:solidFill>
              <a:schemeClr val="lt1"/>
            </a:solidFill>
          </a:endParaRPr>
        </a:p>
      </dsp:txBody>
      <dsp:txXfrm>
        <a:off x="4216751" y="1344191"/>
        <a:ext cx="235576" cy="4385"/>
      </dsp:txXfrm>
    </dsp:sp>
    <dsp:sp modelId="{ADE90B46-FBE5-4440-B907-4D5BB1E500B3}">
      <dsp:nvSpPr>
        <dsp:cNvPr id="0" name=""/>
        <dsp:cNvSpPr/>
      </dsp:nvSpPr>
      <dsp:spPr>
        <a:xfrm>
          <a:off x="5726608" y="19"/>
          <a:ext cx="1906943" cy="1144166"/>
        </a:xfrm>
        <a:prstGeom prst="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568" tIns="99568" rIns="99568" bIns="99568" numCol="1" spcCol="1270" anchor="t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>
              <a:solidFill>
                <a:schemeClr val="lt1"/>
              </a:solidFill>
            </a:rPr>
            <a:t>Assign a Domain Knowledge Template</a:t>
          </a:r>
        </a:p>
      </dsp:txBody>
      <dsp:txXfrm>
        <a:off x="5726608" y="19"/>
        <a:ext cx="1906943" cy="1144166"/>
      </dsp:txXfrm>
    </dsp:sp>
    <dsp:sp modelId="{9EA949D6-435A-2948-B632-62E47019631E}">
      <dsp:nvSpPr>
        <dsp:cNvPr id="0" name=""/>
        <dsp:cNvSpPr/>
      </dsp:nvSpPr>
      <dsp:spPr>
        <a:xfrm>
          <a:off x="2940670" y="2109145"/>
          <a:ext cx="407996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407996" y="45720"/>
              </a:lnTo>
            </a:path>
          </a:pathLst>
        </a:custGeom>
        <a:noFill/>
        <a:ln w="6350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>
            <a:solidFill>
              <a:schemeClr val="lt1"/>
            </a:solidFill>
          </a:endParaRPr>
        </a:p>
      </dsp:txBody>
      <dsp:txXfrm>
        <a:off x="3133704" y="2152672"/>
        <a:ext cx="21929" cy="4385"/>
      </dsp:txXfrm>
    </dsp:sp>
    <dsp:sp modelId="{ABDF0920-D3A4-594C-8039-12AB659320AC}">
      <dsp:nvSpPr>
        <dsp:cNvPr id="0" name=""/>
        <dsp:cNvSpPr/>
      </dsp:nvSpPr>
      <dsp:spPr>
        <a:xfrm>
          <a:off x="1035527" y="1582782"/>
          <a:ext cx="1906943" cy="1144166"/>
        </a:xfrm>
        <a:prstGeom prst="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568" tIns="99568" rIns="99568" bIns="99568" numCol="1" spcCol="1270" anchor="t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>
              <a:solidFill>
                <a:schemeClr val="lt1"/>
              </a:solidFill>
            </a:rPr>
            <a:t>Perform Templated EDA</a:t>
          </a:r>
        </a:p>
      </dsp:txBody>
      <dsp:txXfrm>
        <a:off x="1035527" y="1582782"/>
        <a:ext cx="1906943" cy="1144166"/>
      </dsp:txXfrm>
    </dsp:sp>
    <dsp:sp modelId="{556C6619-2BD4-F344-BCF6-EE7CF9488FA2}">
      <dsp:nvSpPr>
        <dsp:cNvPr id="0" name=""/>
        <dsp:cNvSpPr/>
      </dsp:nvSpPr>
      <dsp:spPr>
        <a:xfrm>
          <a:off x="5286211" y="2102051"/>
          <a:ext cx="478916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52813"/>
              </a:moveTo>
              <a:lnTo>
                <a:pt x="256558" y="52813"/>
              </a:lnTo>
              <a:lnTo>
                <a:pt x="256558" y="45720"/>
              </a:lnTo>
              <a:lnTo>
                <a:pt x="478916" y="45720"/>
              </a:lnTo>
            </a:path>
          </a:pathLst>
        </a:custGeom>
        <a:noFill/>
        <a:ln w="6350" cap="flat" cmpd="sng" algn="ctr">
          <a:solidFill>
            <a:schemeClr val="accent6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>
            <a:solidFill>
              <a:schemeClr val="lt1"/>
            </a:solidFill>
          </a:endParaRPr>
        </a:p>
      </dsp:txBody>
      <dsp:txXfrm>
        <a:off x="5512930" y="2145578"/>
        <a:ext cx="25478" cy="4385"/>
      </dsp:txXfrm>
    </dsp:sp>
    <dsp:sp modelId="{F730BE23-294D-474D-AAFB-C3D33F3A0DE6}">
      <dsp:nvSpPr>
        <dsp:cNvPr id="0" name=""/>
        <dsp:cNvSpPr/>
      </dsp:nvSpPr>
      <dsp:spPr>
        <a:xfrm>
          <a:off x="3381067" y="1582782"/>
          <a:ext cx="1906943" cy="1144166"/>
        </a:xfrm>
        <a:prstGeom prst="rect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568" tIns="99568" rIns="99568" bIns="99568" numCol="1" spcCol="1270" anchor="t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>
              <a:solidFill>
                <a:schemeClr val="lt1"/>
              </a:solidFill>
            </a:rPr>
            <a:t>Gather additional data as needed</a:t>
          </a:r>
        </a:p>
      </dsp:txBody>
      <dsp:txXfrm>
        <a:off x="3381067" y="1582782"/>
        <a:ext cx="1906943" cy="1144166"/>
      </dsp:txXfrm>
    </dsp:sp>
    <dsp:sp modelId="{FABDF8E2-5CAB-7D4D-B5D6-D12AA916398A}">
      <dsp:nvSpPr>
        <dsp:cNvPr id="0" name=""/>
        <dsp:cNvSpPr/>
      </dsp:nvSpPr>
      <dsp:spPr>
        <a:xfrm>
          <a:off x="1988999" y="2718054"/>
          <a:ext cx="4761999" cy="415090"/>
        </a:xfrm>
        <a:custGeom>
          <a:avLst/>
          <a:gdLst/>
          <a:ahLst/>
          <a:cxnLst/>
          <a:rect l="0" t="0" r="0" b="0"/>
          <a:pathLst>
            <a:path>
              <a:moveTo>
                <a:pt x="4761999" y="0"/>
              </a:moveTo>
              <a:lnTo>
                <a:pt x="4761999" y="224645"/>
              </a:lnTo>
              <a:lnTo>
                <a:pt x="0" y="224645"/>
              </a:lnTo>
              <a:lnTo>
                <a:pt x="0" y="415090"/>
              </a:lnTo>
            </a:path>
          </a:pathLst>
        </a:custGeom>
        <a:noFill/>
        <a:ln w="635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>
            <a:solidFill>
              <a:schemeClr val="lt1"/>
            </a:solidFill>
          </a:endParaRPr>
        </a:p>
      </dsp:txBody>
      <dsp:txXfrm>
        <a:off x="4250428" y="2923407"/>
        <a:ext cx="239140" cy="4385"/>
      </dsp:txXfrm>
    </dsp:sp>
    <dsp:sp modelId="{4255925C-7AE8-1743-B715-8EE5CC87F6CE}">
      <dsp:nvSpPr>
        <dsp:cNvPr id="0" name=""/>
        <dsp:cNvSpPr/>
      </dsp:nvSpPr>
      <dsp:spPr>
        <a:xfrm>
          <a:off x="5797527" y="1575688"/>
          <a:ext cx="1906943" cy="1144166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568" tIns="99568" rIns="99568" bIns="99568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>
              <a:solidFill>
                <a:schemeClr val="lt1"/>
              </a:solidFill>
            </a:rPr>
            <a:t>ML choice </a:t>
          </a:r>
        </a:p>
      </dsp:txBody>
      <dsp:txXfrm>
        <a:off x="5797527" y="1575688"/>
        <a:ext cx="1906943" cy="1144166"/>
      </dsp:txXfrm>
    </dsp:sp>
    <dsp:sp modelId="{324A1061-3BFA-A344-8A4D-23B904655EF5}">
      <dsp:nvSpPr>
        <dsp:cNvPr id="0" name=""/>
        <dsp:cNvSpPr/>
      </dsp:nvSpPr>
      <dsp:spPr>
        <a:xfrm>
          <a:off x="2940670" y="3691908"/>
          <a:ext cx="407996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407996" y="45720"/>
              </a:lnTo>
            </a:path>
          </a:pathLst>
        </a:custGeom>
        <a:noFill/>
        <a:ln w="635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>
            <a:solidFill>
              <a:schemeClr val="lt1"/>
            </a:solidFill>
          </a:endParaRPr>
        </a:p>
      </dsp:txBody>
      <dsp:txXfrm>
        <a:off x="3133704" y="3735435"/>
        <a:ext cx="21929" cy="4385"/>
      </dsp:txXfrm>
    </dsp:sp>
    <dsp:sp modelId="{A35F773E-7D0A-7A45-AE41-4055FBE2462C}">
      <dsp:nvSpPr>
        <dsp:cNvPr id="0" name=""/>
        <dsp:cNvSpPr/>
      </dsp:nvSpPr>
      <dsp:spPr>
        <a:xfrm>
          <a:off x="1035527" y="3165545"/>
          <a:ext cx="1906943" cy="1144166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2240" tIns="142240" rIns="142240" bIns="14224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>
              <a:solidFill>
                <a:schemeClr val="lt1"/>
              </a:solidFill>
            </a:rPr>
            <a:t>Data Transformation</a:t>
          </a:r>
        </a:p>
      </dsp:txBody>
      <dsp:txXfrm>
        <a:off x="1035527" y="3165545"/>
        <a:ext cx="1906943" cy="1144166"/>
      </dsp:txXfrm>
    </dsp:sp>
    <dsp:sp modelId="{E99F82BD-8E08-CE4E-9802-703945B325FB}">
      <dsp:nvSpPr>
        <dsp:cNvPr id="0" name=""/>
        <dsp:cNvSpPr/>
      </dsp:nvSpPr>
      <dsp:spPr>
        <a:xfrm>
          <a:off x="5286211" y="3691908"/>
          <a:ext cx="407996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407996" y="45720"/>
              </a:lnTo>
            </a:path>
          </a:pathLst>
        </a:custGeom>
        <a:noFill/>
        <a:ln w="635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>
            <a:solidFill>
              <a:sysClr val="windowText" lastClr="000000"/>
            </a:solidFill>
          </a:endParaRPr>
        </a:p>
      </dsp:txBody>
      <dsp:txXfrm>
        <a:off x="5479244" y="3735435"/>
        <a:ext cx="21929" cy="4385"/>
      </dsp:txXfrm>
    </dsp:sp>
    <dsp:sp modelId="{85E3BF24-C26B-484C-84FE-67C8E3FE10B2}">
      <dsp:nvSpPr>
        <dsp:cNvPr id="0" name=""/>
        <dsp:cNvSpPr/>
      </dsp:nvSpPr>
      <dsp:spPr>
        <a:xfrm>
          <a:off x="3381067" y="3165545"/>
          <a:ext cx="1906943" cy="1144166"/>
        </a:xfrm>
        <a:prstGeom prst="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2240" tIns="142240" rIns="142240" bIns="14224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>
              <a:solidFill>
                <a:schemeClr val="lt1"/>
              </a:solidFill>
            </a:rPr>
            <a:t>ML Building and Optimizing</a:t>
          </a:r>
        </a:p>
      </dsp:txBody>
      <dsp:txXfrm>
        <a:off x="3381067" y="3165545"/>
        <a:ext cx="1906943" cy="1144166"/>
      </dsp:txXfrm>
    </dsp:sp>
    <dsp:sp modelId="{59F6B351-4F55-104D-896D-FC4DB6185408}">
      <dsp:nvSpPr>
        <dsp:cNvPr id="0" name=""/>
        <dsp:cNvSpPr/>
      </dsp:nvSpPr>
      <dsp:spPr>
        <a:xfrm>
          <a:off x="5726608" y="3165545"/>
          <a:ext cx="1906943" cy="1144166"/>
        </a:xfrm>
        <a:prstGeom prst="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2240" tIns="142240" rIns="142240" bIns="14224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>
              <a:solidFill>
                <a:schemeClr val="lt1"/>
              </a:solidFill>
            </a:rPr>
            <a:t>QA on Ask Answer</a:t>
          </a:r>
        </a:p>
      </dsp:txBody>
      <dsp:txXfrm>
        <a:off x="5726608" y="3165545"/>
        <a:ext cx="1906943" cy="1144166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bProcess3">
  <dgm:title val=""/>
  <dgm:desc val=""/>
  <dgm:catLst>
    <dgm:cat type="process" pri="18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axis="self" func="var" arg="dir" op="equ" val="norm">
        <dgm:alg type="snake">
          <dgm:param type="grDir" val="tL"/>
          <dgm:param type="flowDir" val="row"/>
          <dgm:param type="contDir" val="sameDir"/>
          <dgm:param type="bkpt" val="endCnv"/>
        </dgm:alg>
      </dgm:if>
      <dgm:else name="Name3">
        <dgm:alg type="snake">
          <dgm:param type="grDir" val="tR"/>
          <dgm:param type="flowDir" val="row"/>
          <dgm:param type="contDir" val="sameDir"/>
          <dgm:param type="bkpt" val="endCnv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forName="sibTrans" refType="w" refFor="ch" refPtType="node" op="equ" fact="0.23"/>
      <dgm:constr type="sp" refType="w" refFor="ch" refForName="sibTrans" op="equ"/>
      <dgm:constr type="userB" for="des" forName="connectorText" refType="sp"/>
      <dgm:constr type="primFontSz" for="ch" ptType="node" op="equ" val="65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h" refType="w" fact="0.6"/>
        </dgm:constrLst>
        <dgm:ruleLst>
          <dgm:rule type="primFontSz" val="5" fact="NaN" max="NaN"/>
        </dgm:ruleLst>
      </dgm:layoutNode>
      <dgm:forEach name="sibTransForEach" axis="followSib" ptType="sibTrans" cnt="1">
        <dgm:layoutNode name="sibTrans">
          <dgm:choose name="Name4">
            <dgm:if name="Name5" axis="self" func="var" arg="dir" op="equ" val="norm">
              <dgm:alg type="conn">
                <dgm:param type="connRout" val="bend"/>
                <dgm:param type="dim" val="1D"/>
                <dgm:param type="begPts" val="midR bCtr"/>
                <dgm:param type="endPts" val="midL tCtr"/>
              </dgm:alg>
            </dgm:if>
            <dgm:else name="Name6">
              <dgm:alg type="conn">
                <dgm:param type="connRout" val="bend"/>
                <dgm:param type="dim" val="1D"/>
                <dgm:param type="begPts" val="midL bCtr"/>
                <dgm:param type="endPts" val="midR tCtr"/>
              </dgm:alg>
            </dgm:else>
          </dgm:choose>
          <dgm:shape xmlns:r="http://schemas.openxmlformats.org/officeDocument/2006/relationships" type="conn" r:blip="" zOrderOff="-2">
            <dgm:adjLst/>
          </dgm:shape>
          <dgm:presOf axis="self"/>
          <dgm:constrLst>
            <dgm:constr type="begPad" val="-0.05"/>
            <dgm:constr type="endPad" val="0.9"/>
            <dgm:constr type="userA" for="ch" refType="connDist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rect" r:blip="" hideGeom="1">
              <dgm:adjLst/>
            </dgm:shape>
            <dgm:presOf axis="self"/>
            <dgm:constrLst>
              <dgm:constr type="userA"/>
              <dgm:constr type="userB"/>
              <dgm:constr type="w" refType="userA" fact="0.05"/>
              <dgm:constr type="h" refType="userB" fact="0.01"/>
              <dgm:constr type="lMarg" val="1"/>
              <dgm:constr type="rMarg" val="1"/>
              <dgm:constr type="tMarg"/>
              <dgm:constr type="bMarg"/>
            </dgm:constrLst>
            <dgm:ruleLst>
              <dgm:rule type="w" val="NaN" fact="0.6" max="NaN"/>
              <dgm:rule type="h" val="NaN" fact="0.6" max="NaN"/>
              <dgm:rule type="primFontSz" val="5" fact="NaN" max="NaN"/>
            </dgm:ruleLst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908552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www.elocal.com/_next/static/css/337691d49ab31e0e.css#:~:text=%3Aroot%7B,v2" TargetMode="Externa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1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hyperlink" Target="https://www.beautiful.ai/blog/presentation-mistakes-to-leave-behind-in-2025#:~:text=Nothing%20erodes%20credibility%20faster%20than,the%20content%20itself%20is%20strong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www.beautiful.ai/blog/presentation-mistakes-to-leave-behind-in-2025#:~:text=In%202026%2C%20strong%20presentations%20prioritize,competing%20with%20their%20own%20content" TargetMode="External"/><Relationship Id="rId5" Type="http://schemas.openxmlformats.org/officeDocument/2006/relationships/hyperlink" Target="https://www.elocal.com/_next/static/css/337691d49ab31e0e.css#:~:text=%3Aroot%7B,v2" TargetMode="Externa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beautiful.ai/blog/presentation-mistakes-to-leave-behind-in-2025#:~:text=Nothing%20erodes%20credibility%20faster%20than,the%20content%20itself%20is%20strong" TargetMode="External"/><Relationship Id="rId3" Type="http://schemas.openxmlformats.org/officeDocument/2006/relationships/image" Target="../media/image5.png"/><Relationship Id="rId7" Type="http://schemas.openxmlformats.org/officeDocument/2006/relationships/hyperlink" Target="https://www.duarte.com/blog/display-data-in-presentations/#:~:text=Sometimes%20less%20is%20more%2C%20especially,Consider%20this%20chart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www.duarte.com/blog/display-data-in-presentations/#:~:text=points%20are,to%20key%20pieces%20of%20data" TargetMode="Externa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Relationship Id="rId9" Type="http://schemas.openxmlformats.org/officeDocument/2006/relationships/hyperlink" Target="https://www.elocal.com/_next/static/css/337691d49ab31e0e.css#:~:text=%3Aroot%7B,v2" TargetMode="Externa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www.elocal.com/_next/static/css/337691d49ab31e0e.css#:~:text=%3Aroot%7B,v2" TargetMode="Externa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7" Type="http://schemas.openxmlformats.org/officeDocument/2006/relationships/hyperlink" Target="https://www.elocal.com/_next/static/css/337691d49ab31e0e.css#:~:text=%3Aroot%7B,v2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hyperlink" Target="https://www.elocal.com/_next/static/css/337691d49ab31e0e.css#:~:text=%3Aroot%7B,v2" TargetMode="Externa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image" Target="../media/image13.pn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0.png"/><Relationship Id="rId5" Type="http://schemas.openxmlformats.org/officeDocument/2006/relationships/image" Target="../media/image12.png"/><Relationship Id="rId10" Type="http://schemas.openxmlformats.org/officeDocument/2006/relationships/hyperlink" Target="https://www.beautiful.ai/blog/presentation-mistakes-to-leave-behind-in-2025#:~:text=Presenting%20data%20without%20a%20clear,narrative" TargetMode="External"/><Relationship Id="rId4" Type="http://schemas.openxmlformats.org/officeDocument/2006/relationships/image" Target="../media/image10.png"/><Relationship Id="rId9" Type="http://schemas.openxmlformats.org/officeDocument/2006/relationships/hyperlink" Target="https://www.beautiful.ai/blog/presentation-mistakes-to-leave-behind-in-2025#:~:text=In%202026%2C%20strong%20presentations%20prioritize,competing%20with%20their%20own%20content" TargetMode="Externa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beautiful.ai/blog/presentation-mistakes-to-leave-behind-in-2025#:~:text=Presenting%20data%20without%20a%20clear,narrative" TargetMode="External"/><Relationship Id="rId3" Type="http://schemas.openxmlformats.org/officeDocument/2006/relationships/image" Target="../media/image23.png"/><Relationship Id="rId7" Type="http://schemas.openxmlformats.org/officeDocument/2006/relationships/hyperlink" Target="https://www.beautiful.ai/blog/presentation-mistakes-to-leave-behind-in-2025#:~:text=Nothing%20erodes%20credibility%20faster%20than,the%20content%20itself%20is%20strong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7.png"/><Relationship Id="rId4" Type="http://schemas.openxmlformats.org/officeDocument/2006/relationships/image" Target="../media/image2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22537">
              <a:alpha val="50000"/>
            </a:srgbClr>
          </a:solidFill>
          <a:ln w="12700">
            <a:solidFill>
              <a:srgbClr val="02253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Text 1"/>
          <p:cNvSpPr/>
          <p:nvPr/>
        </p:nvSpPr>
        <p:spPr>
          <a:xfrm>
            <a:off x="640080" y="1828800"/>
            <a:ext cx="7772400" cy="228600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marL="0" indent="0" algn="l">
              <a:buNone/>
            </a:pPr>
            <a:r>
              <a:rPr lang="en-US" sz="4200" b="1" dirty="0">
                <a:solidFill>
                  <a:srgbClr val="F3F3F3"/>
                </a:solidFill>
              </a:rPr>
              <a:t>eLocal Analytics</a:t>
            </a:r>
            <a:endParaRPr lang="en-US" sz="4200" dirty="0"/>
          </a:p>
          <a:p>
            <a:pPr marL="0" indent="0" algn="l">
              <a:buNone/>
            </a:pPr>
            <a:endParaRPr lang="en-US" sz="4200" dirty="0"/>
          </a:p>
          <a:p>
            <a:pPr marL="0" indent="0" algn="l">
              <a:buNone/>
            </a:pPr>
            <a:r>
              <a:rPr lang="en-US" sz="2400" i="1" dirty="0">
                <a:solidFill>
                  <a:srgbClr val="FFA000"/>
                </a:solidFill>
              </a:rPr>
              <a:t>Data‑Driven Insights</a:t>
            </a:r>
            <a:endParaRPr lang="en-US" sz="4200" dirty="0"/>
          </a:p>
        </p:txBody>
      </p:sp>
      <p:sp>
        <p:nvSpPr>
          <p:cNvPr id="5" name="Text 2"/>
          <p:cNvSpPr/>
          <p:nvPr/>
        </p:nvSpPr>
        <p:spPr>
          <a:xfrm>
            <a:off x="640080" y="3291840"/>
            <a:ext cx="7772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F3F3F3"/>
                </a:solidFill>
              </a:rPr>
              <a:t>Uncover opportunities &amp; drive growth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457200" y="48006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u="sng" dirty="0">
                <a:solidFill>
                  <a:srgbClr val="0292D2"/>
                </a:solidFill>
                <a:hlinkClick r:id="rId4"/>
              </a:rPr>
              <a:t>[1]</a:t>
            </a:r>
            <a:endParaRPr lang="en-US" sz="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Diagram 1">
            <a:extLst>
              <a:ext uri="{FF2B5EF4-FFF2-40B4-BE49-F238E27FC236}">
                <a16:creationId xmlns:a16="http://schemas.microsoft.com/office/drawing/2014/main" id="{8B5A0F90-CA8A-2265-3592-538D44B490B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002937953"/>
              </p:ext>
            </p:extLst>
          </p:nvPr>
        </p:nvGraphicFramePr>
        <p:xfrm>
          <a:off x="1350334" y="416884"/>
          <a:ext cx="8669079" cy="430973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Rectangle 3">
            <a:extLst>
              <a:ext uri="{FF2B5EF4-FFF2-40B4-BE49-F238E27FC236}">
                <a16:creationId xmlns:a16="http://schemas.microsoft.com/office/drawing/2014/main" id="{52DEBAEC-B6C1-8D2F-8E80-44A1986B3A98}"/>
              </a:ext>
            </a:extLst>
          </p:cNvPr>
          <p:cNvSpPr/>
          <p:nvPr/>
        </p:nvSpPr>
        <p:spPr>
          <a:xfrm>
            <a:off x="0" y="0"/>
            <a:ext cx="2083981" cy="514350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/>
              <a:t>Data</a:t>
            </a:r>
          </a:p>
          <a:p>
            <a:pPr algn="ctr"/>
            <a:r>
              <a:rPr lang="en-US" sz="3200" dirty="0"/>
              <a:t>And</a:t>
            </a:r>
          </a:p>
          <a:p>
            <a:pPr algn="ctr"/>
            <a:r>
              <a:rPr lang="en-US" sz="3200" dirty="0"/>
              <a:t>Analytics</a:t>
            </a:r>
          </a:p>
          <a:p>
            <a:pPr algn="ctr"/>
            <a:r>
              <a:rPr lang="en-US" sz="3200" dirty="0"/>
              <a:t>Framework</a:t>
            </a:r>
          </a:p>
        </p:txBody>
      </p:sp>
    </p:spTree>
    <p:extLst>
      <p:ext uri="{BB962C8B-B14F-4D97-AF65-F5344CB8AC3E}">
        <p14:creationId xmlns:p14="http://schemas.microsoft.com/office/powerpoint/2010/main" val="209742311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6E0101C-0B07-41F0-0CEF-BE6D11F0BD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56533" y="-28354"/>
            <a:ext cx="2069455" cy="520020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3E63AA2-B422-7FF6-319F-E3A2556CDB65}"/>
              </a:ext>
            </a:extLst>
          </p:cNvPr>
          <p:cNvSpPr txBox="1"/>
          <p:nvPr/>
        </p:nvSpPr>
        <p:spPr>
          <a:xfrm>
            <a:off x="2225749" y="113414"/>
            <a:ext cx="507523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AI-Prework with Vibe Engineering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6ECD4E7-BE7C-8C02-EA9B-7B350D9EA2C4}"/>
              </a:ext>
            </a:extLst>
          </p:cNvPr>
          <p:cNvSpPr txBox="1"/>
          <p:nvPr/>
        </p:nvSpPr>
        <p:spPr>
          <a:xfrm>
            <a:off x="2225749" y="880063"/>
            <a:ext cx="6695351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Courier New" panose="02070309020205020404" pitchFamily="49" charset="0"/>
              <a:buChar char="o"/>
            </a:pPr>
            <a:r>
              <a:rPr lang="en-US" dirty="0"/>
              <a:t>Probabilistic Subject Domains for test with Key Metrics bases on </a:t>
            </a:r>
            <a:r>
              <a:rPr lang="en-US" dirty="0" err="1"/>
              <a:t>Elocal’s</a:t>
            </a:r>
            <a:r>
              <a:rPr lang="en-US" dirty="0"/>
              <a:t> Business model and notes from conversations with Jamie</a:t>
            </a:r>
          </a:p>
          <a:p>
            <a:pPr marL="285750" indent="-285750">
              <a:buFont typeface="Courier New" panose="02070309020205020404" pitchFamily="49" charset="0"/>
              <a:buChar char="o"/>
            </a:pPr>
            <a:r>
              <a:rPr lang="en-US" dirty="0"/>
              <a:t>EDA function Suite with Correlation Functions and Unit Testing</a:t>
            </a:r>
          </a:p>
          <a:p>
            <a:pPr marL="285750" indent="-285750">
              <a:buFont typeface="Courier New" panose="02070309020205020404" pitchFamily="49" charset="0"/>
              <a:buChar char="o"/>
            </a:pPr>
            <a:r>
              <a:rPr lang="en-US" dirty="0"/>
              <a:t>Testing on Sample Artificial Data sets based on </a:t>
            </a:r>
            <a:r>
              <a:rPr lang="en-US" dirty="0" err="1"/>
              <a:t>Elocal</a:t>
            </a:r>
            <a:r>
              <a:rPr lang="en-US" dirty="0"/>
              <a:t> potential Subject Domains</a:t>
            </a:r>
          </a:p>
          <a:p>
            <a:pPr marL="285750" indent="-285750">
              <a:buFont typeface="Courier New" panose="02070309020205020404" pitchFamily="49" charset="0"/>
              <a:buChar char="o"/>
            </a:pPr>
            <a:r>
              <a:rPr lang="en-US" dirty="0"/>
              <a:t>D-Tale Module Setup for failback for EDA</a:t>
            </a:r>
          </a:p>
          <a:p>
            <a:pPr marL="285750" indent="-285750">
              <a:buFont typeface="Courier New" panose="02070309020205020404" pitchFamily="49" charset="0"/>
              <a:buChar char="o"/>
            </a:pPr>
            <a:r>
              <a:rPr lang="en-US" dirty="0"/>
              <a:t>Model pre-setup assuming baseline one-encoding, scaling. </a:t>
            </a:r>
          </a:p>
          <a:p>
            <a:pPr marL="285750" indent="-285750">
              <a:buFont typeface="Courier New" panose="02070309020205020404" pitchFamily="49" charset="0"/>
              <a:buChar char="o"/>
            </a:pPr>
            <a:r>
              <a:rPr lang="en-US" dirty="0"/>
              <a:t>Model choice heuristics and flow chart to speed development.</a:t>
            </a:r>
          </a:p>
          <a:p>
            <a:pPr marL="285750" indent="-285750">
              <a:buFont typeface="Courier New" panose="02070309020205020404" pitchFamily="49" charset="0"/>
              <a:buChar char="o"/>
            </a:pPr>
            <a:r>
              <a:rPr lang="en-US" dirty="0"/>
              <a:t>Pre-Setup code for functions to build AOC, and Classification matrix or Regression scoring </a:t>
            </a:r>
          </a:p>
        </p:txBody>
      </p:sp>
    </p:spTree>
    <p:extLst>
      <p:ext uri="{BB962C8B-B14F-4D97-AF65-F5344CB8AC3E}">
        <p14:creationId xmlns:p14="http://schemas.microsoft.com/office/powerpoint/2010/main" val="138630673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F3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22537"/>
                </a:solidFill>
              </a:rPr>
              <a:t>Objective &amp; Challenge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3886200" cy="2011680"/>
          </a:xfrm>
          <a:prstGeom prst="roundRect">
            <a:avLst>
              <a:gd name="adj" fmla="val 3636"/>
            </a:avLst>
          </a:prstGeom>
          <a:solidFill>
            <a:srgbClr val="0292D2">
              <a:alpha val="70000"/>
            </a:srgbClr>
          </a:solidFill>
          <a:ln w="12700">
            <a:solidFill>
              <a:srgbClr val="0292D2"/>
            </a:solidFill>
            <a:prstDash val="solid"/>
          </a:ln>
          <a:effectLst>
            <a:outerShdw blurRad="25400" dist="25400" dir="2700000" algn="bl" rotWithShape="0">
              <a:srgbClr val="999999">
                <a:alpha val="2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508760"/>
            <a:ext cx="365760" cy="3657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97280" y="1481328"/>
            <a:ext cx="3063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C2F39"/>
                </a:solidFill>
              </a:rPr>
              <a:t>Business Objective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640080" y="1965960"/>
            <a:ext cx="3520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2F39"/>
                </a:solidFill>
              </a:rPr>
              <a:t>Acquire high-quality leads and maximise ROI for service providers.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4800600" y="1188720"/>
            <a:ext cx="3886200" cy="2011680"/>
          </a:xfrm>
          <a:prstGeom prst="roundRect">
            <a:avLst>
              <a:gd name="adj" fmla="val 3636"/>
            </a:avLst>
          </a:prstGeom>
          <a:solidFill>
            <a:srgbClr val="FFA000">
              <a:alpha val="70000"/>
            </a:srgbClr>
          </a:solidFill>
          <a:ln w="12700">
            <a:solidFill>
              <a:srgbClr val="FFA000"/>
            </a:solidFill>
            <a:prstDash val="solid"/>
          </a:ln>
          <a:effectLst>
            <a:outerShdw blurRad="25400" dist="25400" dir="2700000" algn="bl" rotWithShape="0">
              <a:srgbClr val="999999">
                <a:alpha val="2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83480" y="1508760"/>
            <a:ext cx="365760" cy="36576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440680" y="1481328"/>
            <a:ext cx="3063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C2F39"/>
                </a:solidFill>
              </a:rPr>
              <a:t>Analytical Challenge</a:t>
            </a:r>
            <a:endParaRPr lang="en-US" sz="1600" dirty="0"/>
          </a:p>
        </p:txBody>
      </p:sp>
      <p:sp>
        <p:nvSpPr>
          <p:cNvPr id="10" name="Text 6"/>
          <p:cNvSpPr/>
          <p:nvPr/>
        </p:nvSpPr>
        <p:spPr>
          <a:xfrm>
            <a:off x="4983480" y="1965960"/>
            <a:ext cx="3520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2F39"/>
                </a:solidFill>
              </a:rPr>
              <a:t>Understand key drivers of performance and uncover actionable insights from call and lead data.</a:t>
            </a:r>
            <a:endParaRPr lang="en-US" sz="1100" dirty="0"/>
          </a:p>
        </p:txBody>
      </p:sp>
      <p:sp>
        <p:nvSpPr>
          <p:cNvPr id="11" name="Text 7"/>
          <p:cNvSpPr/>
          <p:nvPr/>
        </p:nvSpPr>
        <p:spPr>
          <a:xfrm>
            <a:off x="457200" y="48006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u="sng" dirty="0">
                <a:solidFill>
                  <a:srgbClr val="0292D2"/>
                </a:solidFill>
                <a:hlinkClick r:id="rId5"/>
              </a:rPr>
              <a:t>[1]</a:t>
            </a:r>
            <a:r>
              <a:rPr lang="en-US" sz="700" u="sng" dirty="0">
                <a:solidFill>
                  <a:srgbClr val="0292D2"/>
                </a:solidFill>
                <a:hlinkClick r:id="rId6"/>
              </a:rPr>
              <a:t>[4]</a:t>
            </a:r>
            <a:r>
              <a:rPr lang="en-US" sz="700" u="sng" dirty="0">
                <a:solidFill>
                  <a:srgbClr val="0292D2"/>
                </a:solidFill>
                <a:hlinkClick r:id="rId7"/>
              </a:rPr>
              <a:t>[5]</a:t>
            </a:r>
            <a:endParaRPr lang="en-US" sz="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F3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22537"/>
                </a:solidFill>
              </a:rPr>
              <a:t>Data &amp; Methodology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2743200" cy="2011680"/>
          </a:xfrm>
          <a:prstGeom prst="roundRect">
            <a:avLst>
              <a:gd name="adj" fmla="val 2273"/>
            </a:avLst>
          </a:prstGeom>
          <a:solidFill>
            <a:srgbClr val="02405F">
              <a:alpha val="70000"/>
            </a:srgbClr>
          </a:solidFill>
          <a:ln w="12700">
            <a:solidFill>
              <a:srgbClr val="02405F"/>
            </a:solidFill>
            <a:prstDash val="solid"/>
          </a:ln>
          <a:effectLst>
            <a:outerShdw blurRad="25400" dist="25400" dir="2700000" algn="bl" rotWithShape="0">
              <a:srgbClr val="999999">
                <a:alpha val="2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463040"/>
            <a:ext cx="320040" cy="3200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05840" y="1435608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C2F39"/>
                </a:solidFill>
              </a:rPr>
              <a:t>Data Collection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640080" y="1874520"/>
            <a:ext cx="23774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C2F39"/>
                </a:solidFill>
              </a:rPr>
              <a:t>Calls, forms and customer profiles are aggregated from eLocal’s lead generation system.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3429000" y="1188720"/>
            <a:ext cx="2743200" cy="2011680"/>
          </a:xfrm>
          <a:prstGeom prst="roundRect">
            <a:avLst>
              <a:gd name="adj" fmla="val 2273"/>
            </a:avLst>
          </a:prstGeom>
          <a:solidFill>
            <a:srgbClr val="0292D2">
              <a:alpha val="70000"/>
            </a:srgbClr>
          </a:solidFill>
          <a:ln w="12700">
            <a:solidFill>
              <a:srgbClr val="0292D2"/>
            </a:solidFill>
            <a:prstDash val="solid"/>
          </a:ln>
          <a:effectLst>
            <a:outerShdw blurRad="25400" dist="25400" dir="2700000" algn="bl" rotWithShape="0">
              <a:srgbClr val="999999">
                <a:alpha val="2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11880" y="1463040"/>
            <a:ext cx="320040" cy="32004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3977640" y="1435608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C2F39"/>
                </a:solidFill>
              </a:rPr>
              <a:t>Preprocessing</a:t>
            </a:r>
            <a:endParaRPr lang="en-US" sz="1400" dirty="0"/>
          </a:p>
        </p:txBody>
      </p:sp>
      <p:sp>
        <p:nvSpPr>
          <p:cNvPr id="10" name="Text 6"/>
          <p:cNvSpPr/>
          <p:nvPr/>
        </p:nvSpPr>
        <p:spPr>
          <a:xfrm>
            <a:off x="3611880" y="1874520"/>
            <a:ext cx="23774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C2F39"/>
                </a:solidFill>
              </a:rPr>
              <a:t>Clean, normalise and enrich data; handle missing values; engineer features such as call duration and lead source.</a:t>
            </a:r>
            <a:endParaRPr lang="en-US" sz="1000" dirty="0"/>
          </a:p>
        </p:txBody>
      </p:sp>
      <p:sp>
        <p:nvSpPr>
          <p:cNvPr id="11" name="Shape 7"/>
          <p:cNvSpPr/>
          <p:nvPr/>
        </p:nvSpPr>
        <p:spPr>
          <a:xfrm>
            <a:off x="6400800" y="1188720"/>
            <a:ext cx="2743200" cy="2011680"/>
          </a:xfrm>
          <a:prstGeom prst="roundRect">
            <a:avLst>
              <a:gd name="adj" fmla="val 2273"/>
            </a:avLst>
          </a:prstGeom>
          <a:solidFill>
            <a:srgbClr val="FFA000">
              <a:alpha val="70000"/>
            </a:srgbClr>
          </a:solidFill>
          <a:ln w="12700">
            <a:solidFill>
              <a:srgbClr val="FFA000"/>
            </a:solidFill>
            <a:prstDash val="solid"/>
          </a:ln>
          <a:effectLst>
            <a:outerShdw blurRad="25400" dist="25400" dir="2700000" algn="bl" rotWithShape="0">
              <a:srgbClr val="999999">
                <a:alpha val="2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3680" y="146304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6949440" y="1435608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C2F39"/>
                </a:solidFill>
              </a:rPr>
              <a:t>Modelling Approach</a:t>
            </a:r>
            <a:endParaRPr lang="en-US" sz="1400" dirty="0"/>
          </a:p>
        </p:txBody>
      </p:sp>
      <p:sp>
        <p:nvSpPr>
          <p:cNvPr id="14" name="Text 9"/>
          <p:cNvSpPr/>
          <p:nvPr/>
        </p:nvSpPr>
        <p:spPr>
          <a:xfrm>
            <a:off x="6583680" y="1874520"/>
            <a:ext cx="23774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C2F39"/>
                </a:solidFill>
              </a:rPr>
              <a:t>Use statistical summaries and machine learning models (e.g., regression, classification) to uncover patterns and predictors of success.</a:t>
            </a:r>
            <a:endParaRPr lang="en-US" sz="1000" dirty="0"/>
          </a:p>
        </p:txBody>
      </p:sp>
      <p:sp>
        <p:nvSpPr>
          <p:cNvPr id="15" name="Text 10"/>
          <p:cNvSpPr/>
          <p:nvPr/>
        </p:nvSpPr>
        <p:spPr>
          <a:xfrm>
            <a:off x="457200" y="48006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u="sng" dirty="0">
                <a:solidFill>
                  <a:srgbClr val="0292D2"/>
                </a:solidFill>
                <a:hlinkClick r:id="rId6"/>
              </a:rPr>
              <a:t>[2]</a:t>
            </a:r>
            <a:r>
              <a:rPr lang="en-US" sz="700" u="sng" dirty="0">
                <a:solidFill>
                  <a:srgbClr val="0292D2"/>
                </a:solidFill>
                <a:hlinkClick r:id="rId7"/>
              </a:rPr>
              <a:t>[3]</a:t>
            </a:r>
            <a:r>
              <a:rPr lang="en-US" sz="700" u="sng" dirty="0">
                <a:solidFill>
                  <a:srgbClr val="0292D2"/>
                </a:solidFill>
                <a:hlinkClick r:id="rId8"/>
              </a:rPr>
              <a:t>[5]</a:t>
            </a:r>
            <a:endParaRPr lang="en-US" sz="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F3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22537"/>
                </a:solidFill>
              </a:rPr>
              <a:t>Key Performance Indicators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2743200" cy="1280160"/>
          </a:xfrm>
          <a:prstGeom prst="roundRect">
            <a:avLst>
              <a:gd name="adj" fmla="val 5714"/>
            </a:avLst>
          </a:prstGeom>
          <a:solidFill>
            <a:srgbClr val="0292D2">
              <a:alpha val="80000"/>
            </a:srgbClr>
          </a:solidFill>
          <a:ln w="12700">
            <a:solidFill>
              <a:srgbClr val="0292D2"/>
            </a:solidFill>
            <a:prstDash val="solid"/>
          </a:ln>
          <a:effectLst>
            <a:outerShdw blurRad="25400" dist="25400" dir="2700000" algn="bl" rotWithShape="0">
              <a:srgbClr val="999999">
                <a:alpha val="2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463040"/>
            <a:ext cx="27432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960120" y="1371600"/>
            <a:ext cx="2240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C2F39"/>
                </a:solidFill>
              </a:rPr>
              <a:t>Calls Transferred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94360" y="182880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022537"/>
                </a:solidFill>
              </a:rPr>
              <a:t>—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3429000" y="1188720"/>
            <a:ext cx="2743200" cy="1280160"/>
          </a:xfrm>
          <a:prstGeom prst="roundRect">
            <a:avLst>
              <a:gd name="adj" fmla="val 5714"/>
            </a:avLst>
          </a:prstGeom>
          <a:solidFill>
            <a:srgbClr val="FFA000">
              <a:alpha val="80000"/>
            </a:srgbClr>
          </a:solidFill>
          <a:ln w="12700">
            <a:solidFill>
              <a:srgbClr val="FFA000"/>
            </a:solidFill>
            <a:prstDash val="solid"/>
          </a:ln>
          <a:effectLst>
            <a:outerShdw blurRad="25400" dist="25400" dir="2700000" algn="bl" rotWithShape="0">
              <a:srgbClr val="999999">
                <a:alpha val="2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66160" y="1463040"/>
            <a:ext cx="274320" cy="27432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3931920" y="1371600"/>
            <a:ext cx="2240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C2F39"/>
                </a:solidFill>
              </a:rPr>
              <a:t>Form Leads</a:t>
            </a:r>
            <a:endParaRPr lang="en-US" sz="1200" dirty="0"/>
          </a:p>
        </p:txBody>
      </p:sp>
      <p:sp>
        <p:nvSpPr>
          <p:cNvPr id="10" name="Text 6"/>
          <p:cNvSpPr/>
          <p:nvPr/>
        </p:nvSpPr>
        <p:spPr>
          <a:xfrm>
            <a:off x="3566160" y="182880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022537"/>
                </a:solidFill>
              </a:rPr>
              <a:t>—</a:t>
            </a:r>
            <a:endParaRPr lang="en-US" sz="2000" dirty="0"/>
          </a:p>
        </p:txBody>
      </p:sp>
      <p:sp>
        <p:nvSpPr>
          <p:cNvPr id="11" name="Shape 7"/>
          <p:cNvSpPr/>
          <p:nvPr/>
        </p:nvSpPr>
        <p:spPr>
          <a:xfrm>
            <a:off x="6400800" y="1188720"/>
            <a:ext cx="2743200" cy="1280160"/>
          </a:xfrm>
          <a:prstGeom prst="roundRect">
            <a:avLst>
              <a:gd name="adj" fmla="val 5714"/>
            </a:avLst>
          </a:prstGeom>
          <a:solidFill>
            <a:srgbClr val="277239">
              <a:alpha val="80000"/>
            </a:srgbClr>
          </a:solidFill>
          <a:ln w="12700">
            <a:solidFill>
              <a:srgbClr val="277239"/>
            </a:solidFill>
            <a:prstDash val="solid"/>
          </a:ln>
          <a:effectLst>
            <a:outerShdw blurRad="25400" dist="25400" dir="2700000" algn="bl" rotWithShape="0">
              <a:srgbClr val="999999">
                <a:alpha val="2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37960" y="1463040"/>
            <a:ext cx="274320" cy="27432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6903720" y="1371600"/>
            <a:ext cx="2240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C2F39"/>
                </a:solidFill>
              </a:rPr>
              <a:t>Satisfied Clients</a:t>
            </a:r>
            <a:endParaRPr lang="en-US" sz="1200" dirty="0"/>
          </a:p>
        </p:txBody>
      </p:sp>
      <p:sp>
        <p:nvSpPr>
          <p:cNvPr id="14" name="Text 9"/>
          <p:cNvSpPr/>
          <p:nvPr/>
        </p:nvSpPr>
        <p:spPr>
          <a:xfrm>
            <a:off x="6537960" y="182880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022537"/>
                </a:solidFill>
              </a:rPr>
              <a:t>—</a:t>
            </a:r>
            <a:endParaRPr lang="en-US" sz="2000" dirty="0"/>
          </a:p>
        </p:txBody>
      </p:sp>
      <p:sp>
        <p:nvSpPr>
          <p:cNvPr id="15" name="Shape 10"/>
          <p:cNvSpPr/>
          <p:nvPr/>
        </p:nvSpPr>
        <p:spPr>
          <a:xfrm>
            <a:off x="457200" y="2743200"/>
            <a:ext cx="2743200" cy="1280160"/>
          </a:xfrm>
          <a:prstGeom prst="roundRect">
            <a:avLst>
              <a:gd name="adj" fmla="val 5714"/>
            </a:avLst>
          </a:prstGeom>
          <a:solidFill>
            <a:srgbClr val="02405F">
              <a:alpha val="80000"/>
            </a:srgbClr>
          </a:solidFill>
          <a:ln w="12700">
            <a:solidFill>
              <a:srgbClr val="02405F"/>
            </a:solidFill>
            <a:prstDash val="solid"/>
          </a:ln>
          <a:effectLst>
            <a:outerShdw blurRad="25400" dist="25400" dir="2700000" algn="bl" rotWithShape="0">
              <a:srgbClr val="999999">
                <a:alpha val="2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4360" y="3017520"/>
            <a:ext cx="274320" cy="27432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960120" y="2926080"/>
            <a:ext cx="2240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C2F39"/>
                </a:solidFill>
              </a:rPr>
              <a:t>Program Renewals</a:t>
            </a:r>
            <a:endParaRPr lang="en-US" sz="1200" dirty="0"/>
          </a:p>
        </p:txBody>
      </p:sp>
      <p:sp>
        <p:nvSpPr>
          <p:cNvPr id="18" name="Text 12"/>
          <p:cNvSpPr/>
          <p:nvPr/>
        </p:nvSpPr>
        <p:spPr>
          <a:xfrm>
            <a:off x="594360" y="338328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022537"/>
                </a:solidFill>
              </a:rPr>
              <a:t>—</a:t>
            </a:r>
            <a:endParaRPr lang="en-US" sz="2000" dirty="0"/>
          </a:p>
        </p:txBody>
      </p:sp>
      <p:sp>
        <p:nvSpPr>
          <p:cNvPr id="19" name="Shape 13"/>
          <p:cNvSpPr/>
          <p:nvPr/>
        </p:nvSpPr>
        <p:spPr>
          <a:xfrm>
            <a:off x="3429000" y="2743200"/>
            <a:ext cx="2743200" cy="1280160"/>
          </a:xfrm>
          <a:prstGeom prst="roundRect">
            <a:avLst>
              <a:gd name="adj" fmla="val 5714"/>
            </a:avLst>
          </a:prstGeom>
          <a:solidFill>
            <a:srgbClr val="B73E18">
              <a:alpha val="80000"/>
            </a:srgbClr>
          </a:solidFill>
          <a:ln w="12700">
            <a:solidFill>
              <a:srgbClr val="B73E18"/>
            </a:solidFill>
            <a:prstDash val="solid"/>
          </a:ln>
          <a:effectLst>
            <a:outerShdw blurRad="25400" dist="25400" dir="2700000" algn="bl" rotWithShape="0">
              <a:srgbClr val="999999">
                <a:alpha val="2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566160" y="3017520"/>
            <a:ext cx="274320" cy="27432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3931920" y="2926080"/>
            <a:ext cx="2240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C2F39"/>
                </a:solidFill>
              </a:rPr>
              <a:t>Conversion Rate</a:t>
            </a:r>
            <a:endParaRPr lang="en-US" sz="1200" dirty="0"/>
          </a:p>
        </p:txBody>
      </p:sp>
      <p:sp>
        <p:nvSpPr>
          <p:cNvPr id="22" name="Text 15"/>
          <p:cNvSpPr/>
          <p:nvPr/>
        </p:nvSpPr>
        <p:spPr>
          <a:xfrm>
            <a:off x="3566160" y="338328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022537"/>
                </a:solidFill>
              </a:rPr>
              <a:t>—</a:t>
            </a:r>
            <a:endParaRPr lang="en-US" sz="2000" dirty="0"/>
          </a:p>
        </p:txBody>
      </p:sp>
      <p:sp>
        <p:nvSpPr>
          <p:cNvPr id="23" name="Shape 16"/>
          <p:cNvSpPr/>
          <p:nvPr/>
        </p:nvSpPr>
        <p:spPr>
          <a:xfrm>
            <a:off x="6400800" y="2743200"/>
            <a:ext cx="2743200" cy="1280160"/>
          </a:xfrm>
          <a:prstGeom prst="roundRect">
            <a:avLst>
              <a:gd name="adj" fmla="val 5714"/>
            </a:avLst>
          </a:prstGeom>
          <a:solidFill>
            <a:srgbClr val="016EA2">
              <a:alpha val="80000"/>
            </a:srgbClr>
          </a:solidFill>
          <a:ln w="12700">
            <a:solidFill>
              <a:srgbClr val="016EA2"/>
            </a:solidFill>
            <a:prstDash val="solid"/>
          </a:ln>
          <a:effectLst>
            <a:outerShdw blurRad="25400" dist="25400" dir="2700000" algn="bl" rotWithShape="0">
              <a:srgbClr val="999999">
                <a:alpha val="2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37960" y="3017520"/>
            <a:ext cx="274320" cy="27432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6903720" y="2926080"/>
            <a:ext cx="2240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C2F39"/>
                </a:solidFill>
              </a:rPr>
              <a:t>Revenue Growth</a:t>
            </a:r>
            <a:endParaRPr lang="en-US" sz="1200" dirty="0"/>
          </a:p>
        </p:txBody>
      </p:sp>
      <p:sp>
        <p:nvSpPr>
          <p:cNvPr id="26" name="Text 18"/>
          <p:cNvSpPr/>
          <p:nvPr/>
        </p:nvSpPr>
        <p:spPr>
          <a:xfrm>
            <a:off x="6537960" y="338328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022537"/>
                </a:solidFill>
              </a:rPr>
              <a:t>—</a:t>
            </a:r>
            <a:endParaRPr lang="en-US" sz="2000" dirty="0"/>
          </a:p>
        </p:txBody>
      </p:sp>
      <p:sp>
        <p:nvSpPr>
          <p:cNvPr id="27" name="Text 19"/>
          <p:cNvSpPr/>
          <p:nvPr/>
        </p:nvSpPr>
        <p:spPr>
          <a:xfrm>
            <a:off x="457200" y="48006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u="sng" dirty="0">
                <a:solidFill>
                  <a:srgbClr val="0292D2"/>
                </a:solidFill>
                <a:hlinkClick r:id="rId9"/>
              </a:rPr>
              <a:t>[1]</a:t>
            </a:r>
            <a:endParaRPr lang="en-US" sz="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22537">
              <a:alpha val="60000"/>
            </a:srgbClr>
          </a:solidFill>
          <a:ln w="12700">
            <a:solidFill>
              <a:srgbClr val="02253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Text 1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3F3F3"/>
                </a:solidFill>
              </a:rPr>
              <a:t>Exploratory Data Analysis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457200" y="1097280"/>
            <a:ext cx="5943600" cy="2286000"/>
          </a:xfrm>
          <a:prstGeom prst="roundRect">
            <a:avLst>
              <a:gd name="adj" fmla="val 1600"/>
            </a:avLst>
          </a:prstGeom>
          <a:solidFill>
            <a:srgbClr val="02405F">
              <a:alpha val="40000"/>
            </a:srgbClr>
          </a:solidFill>
          <a:ln w="12700">
            <a:solidFill>
              <a:srgbClr val="0292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3"/>
          <p:cNvSpPr/>
          <p:nvPr/>
        </p:nvSpPr>
        <p:spPr>
          <a:xfrm>
            <a:off x="640080" y="1234440"/>
            <a:ext cx="5577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3F3F3"/>
                </a:solidFill>
              </a:rPr>
              <a:t>Primary Analysis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640080" y="1554480"/>
            <a:ext cx="557784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F3F3F3"/>
                </a:solidFill>
              </a:rPr>
              <a:t>Insert chart here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6675120" y="1097280"/>
            <a:ext cx="2560320" cy="1051560"/>
          </a:xfrm>
          <a:prstGeom prst="roundRect">
            <a:avLst>
              <a:gd name="adj" fmla="val 3478"/>
            </a:avLst>
          </a:prstGeom>
          <a:solidFill>
            <a:srgbClr val="277239">
              <a:alpha val="40000"/>
            </a:srgbClr>
          </a:solidFill>
          <a:ln w="12700">
            <a:solidFill>
              <a:srgbClr val="0292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6"/>
          <p:cNvSpPr/>
          <p:nvPr/>
        </p:nvSpPr>
        <p:spPr>
          <a:xfrm>
            <a:off x="6812280" y="11887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3F3F3"/>
                </a:solidFill>
              </a:rPr>
              <a:t>Distribution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6812280" y="146304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i="1" dirty="0">
                <a:solidFill>
                  <a:srgbClr val="F3F3F3"/>
                </a:solidFill>
              </a:rPr>
              <a:t>Insert chart here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6675120" y="2286000"/>
            <a:ext cx="2560320" cy="1051560"/>
          </a:xfrm>
          <a:prstGeom prst="roundRect">
            <a:avLst>
              <a:gd name="adj" fmla="val 3478"/>
            </a:avLst>
          </a:prstGeom>
          <a:solidFill>
            <a:srgbClr val="277239">
              <a:alpha val="40000"/>
            </a:srgbClr>
          </a:solidFill>
          <a:ln w="12700">
            <a:solidFill>
              <a:srgbClr val="0292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ext 9"/>
          <p:cNvSpPr/>
          <p:nvPr/>
        </p:nvSpPr>
        <p:spPr>
          <a:xfrm>
            <a:off x="6812280" y="237744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3F3F3"/>
                </a:solidFill>
              </a:rPr>
              <a:t>Trend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6812280" y="265176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i="1" dirty="0">
                <a:solidFill>
                  <a:srgbClr val="F3F3F3"/>
                </a:solidFill>
              </a:rPr>
              <a:t>Insert chart here</a:t>
            </a:r>
            <a:endParaRPr lang="en-US" sz="800" dirty="0"/>
          </a:p>
        </p:txBody>
      </p:sp>
      <p:sp>
        <p:nvSpPr>
          <p:cNvPr id="14" name="Shape 11"/>
          <p:cNvSpPr/>
          <p:nvPr/>
        </p:nvSpPr>
        <p:spPr>
          <a:xfrm>
            <a:off x="6675120" y="3474720"/>
            <a:ext cx="2560320" cy="1051560"/>
          </a:xfrm>
          <a:prstGeom prst="roundRect">
            <a:avLst>
              <a:gd name="adj" fmla="val 3478"/>
            </a:avLst>
          </a:prstGeom>
          <a:solidFill>
            <a:srgbClr val="277239">
              <a:alpha val="40000"/>
            </a:srgbClr>
          </a:solidFill>
          <a:ln w="12700">
            <a:solidFill>
              <a:srgbClr val="0292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Text 12"/>
          <p:cNvSpPr/>
          <p:nvPr/>
        </p:nvSpPr>
        <p:spPr>
          <a:xfrm>
            <a:off x="6812280" y="35661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3F3F3"/>
                </a:solidFill>
              </a:rPr>
              <a:t>Correlation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6812280" y="384048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i="1" dirty="0">
                <a:solidFill>
                  <a:srgbClr val="F3F3F3"/>
                </a:solidFill>
              </a:rPr>
              <a:t>Insert chart here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457200" y="48006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u="sng" dirty="0">
                <a:solidFill>
                  <a:srgbClr val="0292D2"/>
                </a:solidFill>
                <a:hlinkClick r:id="rId4"/>
              </a:rPr>
              <a:t>[1]</a:t>
            </a:r>
            <a:endParaRPr lang="en-US" sz="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F3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22537"/>
                </a:solidFill>
              </a:rPr>
              <a:t>Deeper Analysis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3931920" cy="1463040"/>
          </a:xfrm>
          <a:prstGeom prst="roundRect">
            <a:avLst>
              <a:gd name="adj" fmla="val 3125"/>
            </a:avLst>
          </a:prstGeom>
          <a:solidFill>
            <a:srgbClr val="0292D2">
              <a:alpha val="70000"/>
            </a:srgbClr>
          </a:solidFill>
          <a:ln w="12700">
            <a:solidFill>
              <a:srgbClr val="0292D2"/>
            </a:solidFill>
            <a:prstDash val="solid"/>
          </a:ln>
          <a:effectLst>
            <a:outerShdw blurRad="25400" dist="25400" dir="2700000" algn="bl" rotWithShape="0">
              <a:srgbClr val="999999">
                <a:alpha val="2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463040"/>
            <a:ext cx="320040" cy="3200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97280" y="144475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C2F39"/>
                </a:solidFill>
              </a:rPr>
              <a:t>Segment Analysis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640080" y="1874520"/>
            <a:ext cx="3566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1C2F39"/>
                </a:solidFill>
              </a:rPr>
              <a:t>Insert summary of findings or insights here.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4754880" y="1188720"/>
            <a:ext cx="3931920" cy="1463040"/>
          </a:xfrm>
          <a:prstGeom prst="roundRect">
            <a:avLst>
              <a:gd name="adj" fmla="val 3125"/>
            </a:avLst>
          </a:prstGeom>
          <a:solidFill>
            <a:srgbClr val="FFA000">
              <a:alpha val="70000"/>
            </a:srgbClr>
          </a:solidFill>
          <a:ln w="12700">
            <a:solidFill>
              <a:srgbClr val="FFA000"/>
            </a:solidFill>
            <a:prstDash val="solid"/>
          </a:ln>
          <a:effectLst>
            <a:outerShdw blurRad="25400" dist="25400" dir="2700000" algn="bl" rotWithShape="0">
              <a:srgbClr val="999999">
                <a:alpha val="2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37760" y="1463040"/>
            <a:ext cx="320040" cy="32004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394960" y="144475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C2F39"/>
                </a:solidFill>
              </a:rPr>
              <a:t>Feature Importance</a:t>
            </a:r>
            <a:endParaRPr lang="en-US" sz="1400" dirty="0"/>
          </a:p>
        </p:txBody>
      </p:sp>
      <p:sp>
        <p:nvSpPr>
          <p:cNvPr id="10" name="Text 6"/>
          <p:cNvSpPr/>
          <p:nvPr/>
        </p:nvSpPr>
        <p:spPr>
          <a:xfrm>
            <a:off x="4937760" y="1874520"/>
            <a:ext cx="3566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1C2F39"/>
                </a:solidFill>
              </a:rPr>
              <a:t>Insert summary of findings or insights here.</a:t>
            </a:r>
            <a:endParaRPr lang="en-US" sz="1000" dirty="0"/>
          </a:p>
        </p:txBody>
      </p:sp>
      <p:sp>
        <p:nvSpPr>
          <p:cNvPr id="11" name="Shape 7"/>
          <p:cNvSpPr/>
          <p:nvPr/>
        </p:nvSpPr>
        <p:spPr>
          <a:xfrm>
            <a:off x="457200" y="3017520"/>
            <a:ext cx="3931920" cy="1463040"/>
          </a:xfrm>
          <a:prstGeom prst="roundRect">
            <a:avLst>
              <a:gd name="adj" fmla="val 3125"/>
            </a:avLst>
          </a:prstGeom>
          <a:solidFill>
            <a:srgbClr val="02405F">
              <a:alpha val="70000"/>
            </a:srgbClr>
          </a:solidFill>
          <a:ln w="12700">
            <a:solidFill>
              <a:srgbClr val="02405F"/>
            </a:solidFill>
            <a:prstDash val="solid"/>
          </a:ln>
          <a:effectLst>
            <a:outerShdw blurRad="25400" dist="25400" dir="2700000" algn="bl" rotWithShape="0">
              <a:srgbClr val="999999">
                <a:alpha val="2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329184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097280" y="327355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C2F39"/>
                </a:solidFill>
              </a:rPr>
              <a:t>Relationship Graph</a:t>
            </a:r>
            <a:endParaRPr lang="en-US" sz="1400" dirty="0"/>
          </a:p>
        </p:txBody>
      </p:sp>
      <p:sp>
        <p:nvSpPr>
          <p:cNvPr id="14" name="Text 9"/>
          <p:cNvSpPr/>
          <p:nvPr/>
        </p:nvSpPr>
        <p:spPr>
          <a:xfrm>
            <a:off x="640080" y="3703320"/>
            <a:ext cx="3566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1C2F39"/>
                </a:solidFill>
              </a:rPr>
              <a:t>Insert summary of findings or insights here.</a:t>
            </a:r>
            <a:endParaRPr lang="en-US" sz="1000" dirty="0"/>
          </a:p>
        </p:txBody>
      </p:sp>
      <p:sp>
        <p:nvSpPr>
          <p:cNvPr id="15" name="Shape 10"/>
          <p:cNvSpPr/>
          <p:nvPr/>
        </p:nvSpPr>
        <p:spPr>
          <a:xfrm>
            <a:off x="4754880" y="3017520"/>
            <a:ext cx="3931920" cy="1463040"/>
          </a:xfrm>
          <a:prstGeom prst="roundRect">
            <a:avLst>
              <a:gd name="adj" fmla="val 3125"/>
            </a:avLst>
          </a:prstGeom>
          <a:solidFill>
            <a:srgbClr val="B73E18">
              <a:alpha val="70000"/>
            </a:srgbClr>
          </a:solidFill>
          <a:ln w="12700">
            <a:solidFill>
              <a:srgbClr val="B73E18"/>
            </a:solidFill>
            <a:prstDash val="solid"/>
          </a:ln>
          <a:effectLst>
            <a:outerShdw blurRad="25400" dist="25400" dir="2700000" algn="bl" rotWithShape="0">
              <a:srgbClr val="999999">
                <a:alpha val="2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37760" y="329184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5394960" y="327355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C2F39"/>
                </a:solidFill>
              </a:rPr>
              <a:t>Correlation Study</a:t>
            </a:r>
            <a:endParaRPr lang="en-US" sz="1400" dirty="0"/>
          </a:p>
        </p:txBody>
      </p:sp>
      <p:sp>
        <p:nvSpPr>
          <p:cNvPr id="18" name="Text 12"/>
          <p:cNvSpPr/>
          <p:nvPr/>
        </p:nvSpPr>
        <p:spPr>
          <a:xfrm>
            <a:off x="4937760" y="3703320"/>
            <a:ext cx="3566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1C2F39"/>
                </a:solidFill>
              </a:rPr>
              <a:t>Insert summary of findings or insights here.</a:t>
            </a:r>
            <a:endParaRPr lang="en-US" sz="1000" dirty="0"/>
          </a:p>
        </p:txBody>
      </p:sp>
      <p:sp>
        <p:nvSpPr>
          <p:cNvPr id="19" name="Text 13"/>
          <p:cNvSpPr/>
          <p:nvPr/>
        </p:nvSpPr>
        <p:spPr>
          <a:xfrm>
            <a:off x="457200" y="48006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u="sng" dirty="0">
                <a:solidFill>
                  <a:srgbClr val="0292D2"/>
                </a:solidFill>
                <a:hlinkClick r:id="rId7"/>
              </a:rPr>
              <a:t>[1]</a:t>
            </a:r>
            <a:endParaRPr lang="en-US" sz="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F3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22537"/>
                </a:solidFill>
              </a:rPr>
              <a:t>Model Explanation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777240" y="1371600"/>
            <a:ext cx="1828800" cy="1097280"/>
          </a:xfrm>
          <a:prstGeom prst="roundRect">
            <a:avLst>
              <a:gd name="adj" fmla="val 4167"/>
            </a:avLst>
          </a:prstGeom>
          <a:solidFill>
            <a:srgbClr val="0292D2">
              <a:alpha val="70000"/>
            </a:srgbClr>
          </a:solidFill>
          <a:ln w="12700">
            <a:solidFill>
              <a:srgbClr val="0292D2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1719072"/>
            <a:ext cx="320040" cy="3200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169164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C2F39"/>
                </a:solidFill>
              </a:rPr>
              <a:t>Data Input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2606040" y="1737360"/>
            <a:ext cx="274320" cy="365760"/>
          </a:xfrm>
          <a:prstGeom prst="rightArrow">
            <a:avLst/>
          </a:prstGeom>
          <a:solidFill>
            <a:srgbClr val="022537"/>
          </a:solidFill>
          <a:ln w="12700">
            <a:solidFill>
              <a:srgbClr val="02253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hape 4"/>
          <p:cNvSpPr/>
          <p:nvPr/>
        </p:nvSpPr>
        <p:spPr>
          <a:xfrm>
            <a:off x="2880360" y="1371600"/>
            <a:ext cx="1828800" cy="1097280"/>
          </a:xfrm>
          <a:prstGeom prst="roundRect">
            <a:avLst>
              <a:gd name="adj" fmla="val 4167"/>
            </a:avLst>
          </a:prstGeom>
          <a:solidFill>
            <a:srgbClr val="FFA000">
              <a:alpha val="70000"/>
            </a:srgbClr>
          </a:solidFill>
          <a:ln w="12700">
            <a:solidFill>
              <a:srgbClr val="FFA000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17520" y="1719072"/>
            <a:ext cx="320040" cy="32004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3383280" y="169164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C2F39"/>
                </a:solidFill>
              </a:rPr>
              <a:t>Preprocessing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4709160" y="1737360"/>
            <a:ext cx="274320" cy="365760"/>
          </a:xfrm>
          <a:prstGeom prst="rightArrow">
            <a:avLst/>
          </a:prstGeom>
          <a:solidFill>
            <a:srgbClr val="022537"/>
          </a:solidFill>
          <a:ln w="12700">
            <a:solidFill>
              <a:srgbClr val="02253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Shape 7"/>
          <p:cNvSpPr/>
          <p:nvPr/>
        </p:nvSpPr>
        <p:spPr>
          <a:xfrm>
            <a:off x="4983480" y="1371600"/>
            <a:ext cx="1828800" cy="1097280"/>
          </a:xfrm>
          <a:prstGeom prst="roundRect">
            <a:avLst>
              <a:gd name="adj" fmla="val 4167"/>
            </a:avLst>
          </a:prstGeom>
          <a:solidFill>
            <a:srgbClr val="02405F">
              <a:alpha val="70000"/>
            </a:srgbClr>
          </a:solidFill>
          <a:ln w="12700">
            <a:solidFill>
              <a:srgbClr val="02405F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20640" y="1719072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5486400" y="169164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C2F39"/>
                </a:solidFill>
              </a:rPr>
              <a:t>Model Training</a:t>
            </a:r>
            <a:endParaRPr lang="en-US" sz="1200" dirty="0"/>
          </a:p>
        </p:txBody>
      </p:sp>
      <p:sp>
        <p:nvSpPr>
          <p:cNvPr id="14" name="Shape 9"/>
          <p:cNvSpPr/>
          <p:nvPr/>
        </p:nvSpPr>
        <p:spPr>
          <a:xfrm>
            <a:off x="6812280" y="1737360"/>
            <a:ext cx="274320" cy="365760"/>
          </a:xfrm>
          <a:prstGeom prst="rightArrow">
            <a:avLst/>
          </a:prstGeom>
          <a:solidFill>
            <a:srgbClr val="022537"/>
          </a:solidFill>
          <a:ln w="12700">
            <a:solidFill>
              <a:srgbClr val="02253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Shape 10"/>
          <p:cNvSpPr/>
          <p:nvPr/>
        </p:nvSpPr>
        <p:spPr>
          <a:xfrm>
            <a:off x="7086600" y="1371600"/>
            <a:ext cx="1828800" cy="1097280"/>
          </a:xfrm>
          <a:prstGeom prst="roundRect">
            <a:avLst>
              <a:gd name="adj" fmla="val 4167"/>
            </a:avLst>
          </a:prstGeom>
          <a:solidFill>
            <a:srgbClr val="277239">
              <a:alpha val="70000"/>
            </a:srgbClr>
          </a:solidFill>
          <a:ln w="12700">
            <a:solidFill>
              <a:srgbClr val="277239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23760" y="1719072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7589520" y="169164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C2F39"/>
                </a:solidFill>
              </a:rPr>
              <a:t>Evaluation</a:t>
            </a:r>
            <a:endParaRPr lang="en-US" sz="1200" dirty="0"/>
          </a:p>
        </p:txBody>
      </p:sp>
      <p:sp>
        <p:nvSpPr>
          <p:cNvPr id="18" name="Shape 12"/>
          <p:cNvSpPr/>
          <p:nvPr/>
        </p:nvSpPr>
        <p:spPr>
          <a:xfrm>
            <a:off x="914400" y="2926080"/>
            <a:ext cx="7315200" cy="1554480"/>
          </a:xfrm>
          <a:prstGeom prst="roundRect">
            <a:avLst>
              <a:gd name="adj" fmla="val 2941"/>
            </a:avLst>
          </a:prstGeom>
          <a:solidFill>
            <a:srgbClr val="02405F">
              <a:alpha val="40000"/>
            </a:srgbClr>
          </a:solidFill>
          <a:ln w="12700">
            <a:solidFill>
              <a:srgbClr val="0292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Text 13"/>
          <p:cNvSpPr/>
          <p:nvPr/>
        </p:nvSpPr>
        <p:spPr>
          <a:xfrm>
            <a:off x="1097280" y="310896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3F3F3"/>
                </a:solidFill>
              </a:rPr>
              <a:t>Performance Metrics</a:t>
            </a:r>
            <a:endParaRPr lang="en-US" sz="1400" dirty="0"/>
          </a:p>
        </p:txBody>
      </p:sp>
      <p:sp>
        <p:nvSpPr>
          <p:cNvPr id="20" name="Text 14"/>
          <p:cNvSpPr/>
          <p:nvPr/>
        </p:nvSpPr>
        <p:spPr>
          <a:xfrm>
            <a:off x="1097280" y="338328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3F3F3"/>
                </a:solidFill>
              </a:rPr>
              <a:t>Accuracy: —</a:t>
            </a:r>
            <a:endParaRPr lang="en-US" sz="1200" dirty="0"/>
          </a:p>
        </p:txBody>
      </p:sp>
      <p:sp>
        <p:nvSpPr>
          <p:cNvPr id="21" name="Text 15"/>
          <p:cNvSpPr/>
          <p:nvPr/>
        </p:nvSpPr>
        <p:spPr>
          <a:xfrm>
            <a:off x="1097280" y="365760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3F3F3"/>
                </a:solidFill>
              </a:rPr>
              <a:t>Precision: —</a:t>
            </a:r>
            <a:endParaRPr lang="en-US" sz="1200" dirty="0"/>
          </a:p>
        </p:txBody>
      </p:sp>
      <p:sp>
        <p:nvSpPr>
          <p:cNvPr id="22" name="Text 16"/>
          <p:cNvSpPr/>
          <p:nvPr/>
        </p:nvSpPr>
        <p:spPr>
          <a:xfrm>
            <a:off x="1097280" y="393192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3F3F3"/>
                </a:solidFill>
              </a:rPr>
              <a:t>Recall: —</a:t>
            </a:r>
            <a:endParaRPr lang="en-US" sz="1200" dirty="0"/>
          </a:p>
        </p:txBody>
      </p:sp>
      <p:sp>
        <p:nvSpPr>
          <p:cNvPr id="23" name="Text 17"/>
          <p:cNvSpPr/>
          <p:nvPr/>
        </p:nvSpPr>
        <p:spPr>
          <a:xfrm>
            <a:off x="4754880" y="310896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3F3F3"/>
                </a:solidFill>
              </a:rPr>
              <a:t>Confusion Matrix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4754880" y="3429000"/>
            <a:ext cx="3291840" cy="822960"/>
          </a:xfrm>
          <a:prstGeom prst="roundRect">
            <a:avLst>
              <a:gd name="adj" fmla="val 4444"/>
            </a:avLst>
          </a:prstGeom>
          <a:solidFill>
            <a:srgbClr val="277239">
              <a:alpha val="40000"/>
            </a:srgbClr>
          </a:solidFill>
          <a:ln w="12700">
            <a:solidFill>
              <a:srgbClr val="0292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Text 19"/>
          <p:cNvSpPr/>
          <p:nvPr/>
        </p:nvSpPr>
        <p:spPr>
          <a:xfrm>
            <a:off x="4754880" y="3429000"/>
            <a:ext cx="3291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F3F3F3"/>
                </a:solidFill>
              </a:rPr>
              <a:t>Insert matrix here</a:t>
            </a:r>
            <a:endParaRPr lang="en-US" sz="1000" dirty="0"/>
          </a:p>
        </p:txBody>
      </p:sp>
      <p:sp>
        <p:nvSpPr>
          <p:cNvPr id="26" name="Text 20"/>
          <p:cNvSpPr/>
          <p:nvPr/>
        </p:nvSpPr>
        <p:spPr>
          <a:xfrm>
            <a:off x="457200" y="48006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u="sng" dirty="0">
                <a:solidFill>
                  <a:srgbClr val="0292D2"/>
                </a:solidFill>
                <a:hlinkClick r:id="rId7"/>
              </a:rPr>
              <a:t>[1]</a:t>
            </a:r>
            <a:endParaRPr lang="en-US" sz="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F3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22537"/>
                </a:solidFill>
              </a:rPr>
              <a:t>Insights &amp; Recommendations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023360" cy="2926080"/>
          </a:xfrm>
          <a:prstGeom prst="roundRect">
            <a:avLst>
              <a:gd name="adj" fmla="val 1563"/>
            </a:avLst>
          </a:prstGeom>
          <a:solidFill>
            <a:srgbClr val="02405F">
              <a:alpha val="40000"/>
            </a:srgbClr>
          </a:solidFill>
          <a:ln w="12700">
            <a:solidFill>
              <a:srgbClr val="0292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3F3F3"/>
                </a:solidFill>
              </a:rPr>
              <a:t>Key Insights</a:t>
            </a:r>
            <a:endParaRPr lang="en-US" sz="180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828800"/>
            <a:ext cx="274320" cy="2743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005840" y="182880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3F3F3"/>
                </a:solidFill>
              </a:rPr>
              <a:t>Peak call times reveal prime opportunities for lead capture.</a:t>
            </a:r>
            <a:endParaRPr lang="en-US" sz="1100" dirty="0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2468880"/>
            <a:ext cx="274320" cy="27432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005840" y="246888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3F3F3"/>
                </a:solidFill>
              </a:rPr>
              <a:t>Customer satisfaction correlates strongly with call resolution speed.</a:t>
            </a:r>
            <a:endParaRPr lang="en-US" sz="1100" dirty="0"/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3108960"/>
            <a:ext cx="274320" cy="27432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1005840" y="310896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3F3F3"/>
                </a:solidFill>
              </a:rPr>
              <a:t>Conversion rates vary significantly by service category.</a:t>
            </a:r>
            <a:endParaRPr lang="en-US" sz="1100" dirty="0"/>
          </a:p>
        </p:txBody>
      </p:sp>
      <p:sp>
        <p:nvSpPr>
          <p:cNvPr id="11" name="Shape 6"/>
          <p:cNvSpPr/>
          <p:nvPr/>
        </p:nvSpPr>
        <p:spPr>
          <a:xfrm>
            <a:off x="4663440" y="1188720"/>
            <a:ext cx="4023360" cy="2926080"/>
          </a:xfrm>
          <a:prstGeom prst="roundRect">
            <a:avLst>
              <a:gd name="adj" fmla="val 1563"/>
            </a:avLst>
          </a:prstGeom>
          <a:solidFill>
            <a:srgbClr val="277239">
              <a:alpha val="40000"/>
            </a:srgbClr>
          </a:solidFill>
          <a:ln w="12700">
            <a:solidFill>
              <a:srgbClr val="0292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ext 7"/>
          <p:cNvSpPr/>
          <p:nvPr/>
        </p:nvSpPr>
        <p:spPr>
          <a:xfrm>
            <a:off x="4846320" y="137160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3F3F3"/>
                </a:solidFill>
              </a:rPr>
              <a:t>Recommended Actions</a:t>
            </a:r>
            <a:endParaRPr lang="en-US" sz="1800" dirty="0"/>
          </a:p>
        </p:txBody>
      </p:sp>
      <p:pic>
        <p:nvPicPr>
          <p:cNvPr id="1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46320" y="1828800"/>
            <a:ext cx="274320" cy="27432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5212080" y="182880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3F3F3"/>
                </a:solidFill>
              </a:rPr>
              <a:t>Optimise staffing during high call volume periods.</a:t>
            </a:r>
            <a:endParaRPr lang="en-US" sz="1100" dirty="0"/>
          </a:p>
        </p:txBody>
      </p:sp>
      <p:pic>
        <p:nvPicPr>
          <p:cNvPr id="15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46320" y="2468880"/>
            <a:ext cx="274320" cy="274320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5212080" y="246888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3F3F3"/>
                </a:solidFill>
              </a:rPr>
              <a:t>Implement training to improve call resolution efficiency.</a:t>
            </a:r>
            <a:endParaRPr lang="en-US" sz="1100" dirty="0"/>
          </a:p>
        </p:txBody>
      </p:sp>
      <p:pic>
        <p:nvPicPr>
          <p:cNvPr id="1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846320" y="3108960"/>
            <a:ext cx="274320" cy="274320"/>
          </a:xfrm>
          <a:prstGeom prst="rect">
            <a:avLst/>
          </a:prstGeom>
        </p:spPr>
      </p:pic>
      <p:sp>
        <p:nvSpPr>
          <p:cNvPr id="18" name="Text 10"/>
          <p:cNvSpPr/>
          <p:nvPr/>
        </p:nvSpPr>
        <p:spPr>
          <a:xfrm>
            <a:off x="5212080" y="310896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3F3F3"/>
                </a:solidFill>
              </a:rPr>
              <a:t>Tailor marketing by prioritising top‑converting services.</a:t>
            </a:r>
            <a:endParaRPr lang="en-US" sz="1100" dirty="0"/>
          </a:p>
        </p:txBody>
      </p:sp>
      <p:sp>
        <p:nvSpPr>
          <p:cNvPr id="19" name="Text 11"/>
          <p:cNvSpPr/>
          <p:nvPr/>
        </p:nvSpPr>
        <p:spPr>
          <a:xfrm>
            <a:off x="457200" y="48006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u="sng" dirty="0">
                <a:solidFill>
                  <a:srgbClr val="0292D2"/>
                </a:solidFill>
                <a:hlinkClick r:id="rId9"/>
              </a:rPr>
              <a:t>[4]</a:t>
            </a:r>
            <a:r>
              <a:rPr lang="en-US" sz="700" u="sng" dirty="0">
                <a:solidFill>
                  <a:srgbClr val="0292D2"/>
                </a:solidFill>
                <a:hlinkClick r:id="rId10"/>
              </a:rPr>
              <a:t>[6]</a:t>
            </a:r>
            <a:endParaRPr lang="en-US" sz="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3F3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22537"/>
                </a:solidFill>
              </a:rPr>
              <a:t>Next Steps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777240" y="1645920"/>
            <a:ext cx="1828800" cy="1097280"/>
          </a:xfrm>
          <a:prstGeom prst="roundRect">
            <a:avLst>
              <a:gd name="adj" fmla="val 4167"/>
            </a:avLst>
          </a:prstGeom>
          <a:solidFill>
            <a:srgbClr val="FFA000">
              <a:alpha val="70000"/>
            </a:srgbClr>
          </a:solidFill>
          <a:ln w="12700">
            <a:solidFill>
              <a:srgbClr val="FFA000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1993392"/>
            <a:ext cx="320040" cy="3200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196596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C2F39"/>
                </a:solidFill>
              </a:rPr>
              <a:t>Implement Changes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2606040" y="2011680"/>
            <a:ext cx="274320" cy="365760"/>
          </a:xfrm>
          <a:prstGeom prst="rightArrow">
            <a:avLst/>
          </a:prstGeom>
          <a:solidFill>
            <a:srgbClr val="022537"/>
          </a:solidFill>
          <a:ln w="12700">
            <a:solidFill>
              <a:srgbClr val="02253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hape 4"/>
          <p:cNvSpPr/>
          <p:nvPr/>
        </p:nvSpPr>
        <p:spPr>
          <a:xfrm>
            <a:off x="2880360" y="1645920"/>
            <a:ext cx="1828800" cy="1097280"/>
          </a:xfrm>
          <a:prstGeom prst="roundRect">
            <a:avLst>
              <a:gd name="adj" fmla="val 4167"/>
            </a:avLst>
          </a:prstGeom>
          <a:solidFill>
            <a:srgbClr val="0292D2">
              <a:alpha val="70000"/>
            </a:srgbClr>
          </a:solidFill>
          <a:ln w="12700">
            <a:solidFill>
              <a:srgbClr val="0292D2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17520" y="1993392"/>
            <a:ext cx="320040" cy="32004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3383280" y="196596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C2F39"/>
                </a:solidFill>
              </a:rPr>
              <a:t>Monitor KPIs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4709160" y="2011680"/>
            <a:ext cx="274320" cy="365760"/>
          </a:xfrm>
          <a:prstGeom prst="rightArrow">
            <a:avLst/>
          </a:prstGeom>
          <a:solidFill>
            <a:srgbClr val="022537"/>
          </a:solidFill>
          <a:ln w="12700">
            <a:solidFill>
              <a:srgbClr val="02253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Shape 7"/>
          <p:cNvSpPr/>
          <p:nvPr/>
        </p:nvSpPr>
        <p:spPr>
          <a:xfrm>
            <a:off x="4983480" y="1645920"/>
            <a:ext cx="1828800" cy="1097280"/>
          </a:xfrm>
          <a:prstGeom prst="roundRect">
            <a:avLst>
              <a:gd name="adj" fmla="val 4167"/>
            </a:avLst>
          </a:prstGeom>
          <a:solidFill>
            <a:srgbClr val="02405F">
              <a:alpha val="70000"/>
            </a:srgbClr>
          </a:solidFill>
          <a:ln w="12700">
            <a:solidFill>
              <a:srgbClr val="02405F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20640" y="1993392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5486400" y="196596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C2F39"/>
                </a:solidFill>
              </a:rPr>
              <a:t>Refine Models</a:t>
            </a:r>
            <a:endParaRPr lang="en-US" sz="1200" dirty="0"/>
          </a:p>
        </p:txBody>
      </p:sp>
      <p:sp>
        <p:nvSpPr>
          <p:cNvPr id="14" name="Shape 9"/>
          <p:cNvSpPr/>
          <p:nvPr/>
        </p:nvSpPr>
        <p:spPr>
          <a:xfrm>
            <a:off x="6812280" y="2011680"/>
            <a:ext cx="274320" cy="365760"/>
          </a:xfrm>
          <a:prstGeom prst="rightArrow">
            <a:avLst/>
          </a:prstGeom>
          <a:solidFill>
            <a:srgbClr val="022537"/>
          </a:solidFill>
          <a:ln w="12700">
            <a:solidFill>
              <a:srgbClr val="02253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Shape 10"/>
          <p:cNvSpPr/>
          <p:nvPr/>
        </p:nvSpPr>
        <p:spPr>
          <a:xfrm>
            <a:off x="7086600" y="1645920"/>
            <a:ext cx="1828800" cy="1097280"/>
          </a:xfrm>
          <a:prstGeom prst="roundRect">
            <a:avLst>
              <a:gd name="adj" fmla="val 4167"/>
            </a:avLst>
          </a:prstGeom>
          <a:solidFill>
            <a:srgbClr val="277239">
              <a:alpha val="70000"/>
            </a:srgbClr>
          </a:solidFill>
          <a:ln w="12700">
            <a:solidFill>
              <a:srgbClr val="277239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23760" y="1993392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7589520" y="196596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C2F39"/>
                </a:solidFill>
              </a:rPr>
              <a:t>Continuous Improvement</a:t>
            </a:r>
            <a:endParaRPr lang="en-US" sz="1200" dirty="0"/>
          </a:p>
        </p:txBody>
      </p:sp>
      <p:sp>
        <p:nvSpPr>
          <p:cNvPr id="18" name="Text 12"/>
          <p:cNvSpPr/>
          <p:nvPr/>
        </p:nvSpPr>
        <p:spPr>
          <a:xfrm>
            <a:off x="457200" y="41148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i="1" dirty="0">
                <a:solidFill>
                  <a:srgbClr val="B73E18"/>
                </a:solidFill>
              </a:rPr>
              <a:t>Engage. Analyse. Improve.</a:t>
            </a:r>
            <a:endParaRPr lang="en-US" sz="2000" dirty="0"/>
          </a:p>
        </p:txBody>
      </p:sp>
      <p:sp>
        <p:nvSpPr>
          <p:cNvPr id="19" name="Text 13"/>
          <p:cNvSpPr/>
          <p:nvPr/>
        </p:nvSpPr>
        <p:spPr>
          <a:xfrm>
            <a:off x="457200" y="48006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u="sng" dirty="0">
                <a:solidFill>
                  <a:srgbClr val="0292D2"/>
                </a:solidFill>
                <a:hlinkClick r:id="rId7"/>
              </a:rPr>
              <a:t>[5]</a:t>
            </a:r>
            <a:r>
              <a:rPr lang="en-US" sz="700" u="sng" dirty="0">
                <a:solidFill>
                  <a:srgbClr val="0292D2"/>
                </a:solidFill>
                <a:hlinkClick r:id="rId8"/>
              </a:rPr>
              <a:t>[6]</a:t>
            </a: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274</TotalTime>
  <Words>465</Words>
  <Application>Microsoft Macintosh PowerPoint</Application>
  <PresentationFormat>On-screen Show (16:9)</PresentationFormat>
  <Paragraphs>112</Paragraphs>
  <Slides>11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Seeber, Tom (IO)</cp:lastModifiedBy>
  <cp:revision>2</cp:revision>
  <dcterms:created xsi:type="dcterms:W3CDTF">2026-02-02T15:49:14Z</dcterms:created>
  <dcterms:modified xsi:type="dcterms:W3CDTF">2026-02-02T23:17:25Z</dcterms:modified>
</cp:coreProperties>
</file>